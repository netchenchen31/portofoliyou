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124eb84-4cf0-598d-86d2-03e62fbe4f02}">
          <p14:sldIdLst>
            <p14:sldId id="256"/>
          </p14:sldIdLst>
        </p14:section>
        <p14:section name="Project Overview" id="{5a4936ab-6f6d-5ccb-2b6b-259e207d3791}">
          <p14:sldIdLst>
            <p14:sldId id="257"/>
            <p14:sldId id="258"/>
            <p14:sldId id="259"/>
            <p14:sldId id="260"/>
            <p14:sldId id="261"/>
            <p14:sldId id="262"/>
            <p14:sldId id="263"/>
          </p14:sldIdLst>
        </p14:section>
        <p14:section name="Generative AI Prompts" id="{cbe9e8fc-07ff-53c4-c25c-1a4c65539913}">
          <p14:sldIdLst>
            <p14:sldId id="264"/>
            <p14:sldId id="265"/>
            <p14:sldId id="266"/>
          </p14:sldIdLst>
        </p14:section>
        <p14:section name="Current Status" id="{a7bf2bfa-058e-d545-14f1-51c7bdd21d72}">
          <p14:sldIdLst>
            <p14:sldId id="267"/>
          </p14:sldIdLst>
        </p14:section>
        <p14:section name="Future Plans" id="{5c616ce7-21ca-718c-b3b4-41b2abedca96}">
          <p14:sldIdLst>
            <p14:sldId id="268"/>
            <p14:sldId id="269"/>
            <p14:sldId id="270"/>
          </p14:sldIdLst>
        </p14:section>
        <p14:section name="Closing" id="{3b9c4b50-2f8a-6bcc-6113-4ad903d2aac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project is PortofoliYou, a portfolio website for a multidisciplinary creator like me. Today I'll cover the overview and objectives, how I used generative AI, where the project stands now, and what comes next. The site is already live at portofoli-you.vercel.app.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my work covers five very different fields, but each visitor usually cares about one. A recruiter for a film role does not want to scroll through research papers. So the idea is simple: ask the visitor why they are here, then show only the work that matters to them. The success goal is that a visitor reaches relevant work in three clicks or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four objectives. First, speed: relevant work in three clicks or fewer. Second, perspective: the same project shows different details depending on who is looking. Third, I can manage everything myself through an admin dashboard. Fourth, privacy: there is no tracking and no visitor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features. Purpose selection and the category filter decide what the visitor sees. The detail page changes based on purpose. About and Contact are standard pages, but contact messages are stored in my database. The admin dashboard lets me manage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actual flow on the live site. A recruiter clicks I'm hiring, taps Film, sees only film projects, and opens one. That's three clicks. Academic visitors go straight to my research projects, and explorers see everything, so they need only two clicks. Originally there was a Show Projects button after choosing a type; I removed it so one tap goes straight to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of the project. Both screenshots show the same film, but the right-hand panel changes. A recruiter sees my role, key skills and responsibilities. A collaborator sees my contribution, production experience and creative process, with process images. Academic visitors and explorers see a general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Next.js with TypeScript and Tailwind, hosted on Vercel, with Supabase for the database and login. When I push to GitHub, Vercel deploys automatically. Security is handled in the database itself with row-level security: visitors can only read projects and send messages, and only my admin account can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was setup in late September. On October 6 I built all the screens, connected the database, built the admin dashboard, and redesigned the visitor flow based on my mockups. This week is the midterm. Next come real content, polish, user testing with five people, and final checks before the final exam around December 21. The professor asked for weekly updates, so I'm working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AI-assisted development I use Claude Code, an AI coding agent that works directly in my GitHub repository. I act as the product owner: I set the rules, design the mockups, decide, and test. The AI writes and tests the code and explains every step. The key prompt specification is a file called CLAUDE.md. The AI reads it at the start of every session, so it works like a permanent system prompt: plain-language explanations, one feature at a time, check in before big decisions, and a strict scope and privacy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actual prompts I gave, in order. They are short, because the rules file supplies the context. For the redesign, I attached my five mockup figures as images, and the AI built the purpose flow from them. When something did not feel right, like the extra Show Projects click, I wrote a short correction prompt and the AI changed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prompts follow a simple structure: context, goal, constraints, and how I will check the result. An important part of the specification is that the AI must check in before big decisions. During the redesign it asked me four questions before writing any code, and these are my answers. So the product decisions stay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screens are built: Home, type selection, project list, project detail, About, Contact, admin login, dashboard, and the project form. The site has been live since October 6. Of my four completion checks, two already work on the live site. The admin ones are built and tested, but I still need to create my admin account in Supabase and run one database update. That is this week's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steps are concrete. First, make the admin work live. Then replace all sample projects and the profile with my real work. Finally, remove the sample files and run the completion checks again. My goal is that by November 9 the site shows only my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content is in, I plan these improvements: proper link previews for when I share the site, faster loading, an accessibility check, and better admin tools. A new addition is three languages: I'm Indonesian and live in Korea, so my visitors may be Indonesian, Korean or international. I plan a language switcher for Indonesian, English and Korean. Multi-language was originally out of scope, so this is a deliberate scope change, planned after the real content is in. Multi-select categories is an open question that I'll decide after user testing. I'm also keeping a clear out-of-scope list so the project stays finishable in eleven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deployment, the site already runs on Vercel with automatic deploys, and the data lives in Supabase in the Singapore region. Both free tiers are enough for a personal portfolio. I might add a custom domain for the final version. After the course, this becomes my real portfolio, the one link I share for internships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If there's time, I can show the live site: choosing a purpose, picking Film, and opening a project. I'd love any feedback, especially on the purpose-based detail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572000" cy="8229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057400"/>
            <a:ext cx="45720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chemeClr val="accent5"/>
                </a:solidFill>
              </a:rPr>
              <a:t>PortofoliYou · Midterm Progress Report</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portofoli-you.vercel.app" TargetMode="External"/><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portofoli-you.vercel.app" TargetMode="External"/><Relationship Id="rId2"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572000" cy="822960"/>
          </a:xfrm>
          <a:prstGeom prst="rect">
            <a:avLst/>
          </a:prstGeom>
          <a:noFill/>
          <a:ln/>
        </p:spPr>
        <p:txBody>
          <a:bodyPr wrap="square" lIns="0" tIns="0" rIns="0" bIns="0" rtlCol="0" anchor="b"/>
          <a:lstStyle/>
          <a:p>
            <a:pPr algn="l" indent="0" marL="0">
              <a:buNone/>
            </a:pPr>
            <a:r>
              <a:rPr lang="en-US" sz="4400" b="1" dirty="0">
                <a:solidFill>
                  <a:schemeClr val="bg1"/>
                </a:solidFill>
              </a:rPr>
              <a:t>PortofoliYou</a:t>
            </a:r>
            <a:endParaRPr lang="en-US" sz="4400" dirty="0"/>
          </a:p>
        </p:txBody>
      </p:sp>
      <p:sp>
        <p:nvSpPr>
          <p:cNvPr id="3" name="Text 0"/>
          <p:cNvSpPr/>
          <p:nvPr>
            <p:ph idx="101" type="body" hasCustomPrompt="1"/>
          </p:nvPr>
        </p:nvSpPr>
        <p:spPr>
          <a:xfrm>
            <a:off x="548640" y="2057400"/>
            <a:ext cx="4572000" cy="1097280"/>
          </a:xfrm>
          <a:prstGeom prst="rect">
            <a:avLst/>
          </a:prstGeom>
          <a:noFill/>
          <a:ln/>
        </p:spPr>
        <p:txBody>
          <a:bodyPr wrap="square" lIns="0" tIns="0" rIns="0" bIns="0" rtlCol="0" anchor="t"/>
          <a:lstStyle/>
          <a:p>
            <a:pPr algn="l" indent="0" marL="0">
              <a:buNone/>
            </a:pPr>
            <a:r>
              <a:rPr lang="en-US" sz="1800" b="1" dirty="0">
                <a:solidFill>
                  <a:schemeClr val="bg1"/>
                </a:solidFill>
              </a:rPr>
              <a:t>Midterm Progress Report</a:t>
            </a:r>
            <a:endParaRPr lang="en-US" sz="1800" dirty="0"/>
          </a:p>
          <a:p>
            <a:pPr algn="l" indent="0" marL="0">
              <a:buNone/>
            </a:pPr>
            <a:r>
              <a:rPr lang="en-US" sz="1500" dirty="0">
                <a:solidFill>
                  <a:schemeClr val="accent6"/>
                </a:solidFill>
              </a:rPr>
              <a:t>A purpose-driven portfolio for a multidisciplinary creator</a:t>
            </a:r>
            <a:endParaRPr lang="en-US" sz="1800" dirty="0"/>
          </a:p>
        </p:txBody>
      </p:sp>
      <p:sp>
        <p:nvSpPr>
          <p:cNvPr id="4" name="Text 2"/>
          <p:cNvSpPr txBox="1"/>
          <p:nvPr/>
        </p:nvSpPr>
        <p:spPr>
          <a:xfrm>
            <a:off x="548640" y="3291840"/>
            <a:ext cx="4572000" cy="640080"/>
          </a:xfrm>
          <a:prstGeom prst="rect">
            <a:avLst/>
          </a:prstGeom>
          <a:noFill/>
          <a:ln/>
        </p:spPr>
        <p:txBody>
          <a:bodyPr wrap="square" lIns="0" tIns="0" rIns="0" bIns="0" rtlCol="0" anchor="ctr"/>
          <a:lstStyle/>
          <a:p>
            <a:pPr indent="0" marL="0">
              <a:buNone/>
            </a:pPr>
            <a:r>
              <a:rPr lang="en-US" sz="1300" dirty="0">
                <a:solidFill>
                  <a:schemeClr val="accent6"/>
                </a:solidFill>
              </a:rPr>
              <a:t>Nethania · October 20, 2026</a:t>
            </a:r>
            <a:endParaRPr lang="en-US" sz="1300" dirty="0"/>
          </a:p>
          <a:p>
            <a:pPr indent="0" marL="0">
              <a:buNone/>
            </a:pPr>
            <a:r>
              <a:rPr lang="en-US" sz="13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Live: portofoli-you.vercel.app</a:t>
            </a:r>
            <a:endParaRPr lang="en-US" sz="1300" dirty="0"/>
          </a:p>
        </p:txBody>
      </p:sp>
      <p:pic>
        <p:nvPicPr>
          <p:cNvPr id="5" name="Home screenshot" descr="PortofoliYou home page">    </p:cNvPr>
          <p:cNvPicPr>
            <a:picLocks noChangeAspect="1"/>
          </p:cNvPicPr>
          <p:nvPr/>
        </p:nvPicPr>
        <p:blipFill>
          <a:blip r:embed="rId2"/>
          <a:stretch>
            <a:fillRect/>
          </a:stretch>
        </p:blipFill>
        <p:spPr>
          <a:xfrm>
            <a:off x="5349240" y="1188720"/>
            <a:ext cx="3337560" cy="20859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Project overview</a:t>
            </a:r>
            <a:endParaRPr lang="en-US" sz="3000" dirty="0"/>
          </a:p>
        </p:txBody>
      </p:sp>
      <p:sp>
        <p:nvSpPr>
          <p:cNvPr id="3" name="Text 1"/>
          <p:cNvSpPr txBox="1"/>
          <p:nvPr/>
        </p:nvSpPr>
        <p:spPr>
          <a:xfrm>
            <a:off x="457200" y="1097280"/>
            <a:ext cx="484632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THE PROBLEM</a:t>
            </a:r>
            <a:endParaRPr lang="en-US" sz="1100" dirty="0"/>
          </a:p>
        </p:txBody>
      </p:sp>
      <p:sp>
        <p:nvSpPr>
          <p:cNvPr id="4" name="Text 2"/>
          <p:cNvSpPr txBox="1"/>
          <p:nvPr/>
        </p:nvSpPr>
        <p:spPr>
          <a:xfrm>
            <a:off x="457200" y="1389888"/>
            <a:ext cx="4846320" cy="777240"/>
          </a:xfrm>
          <a:prstGeom prst="rect">
            <a:avLst/>
          </a:prstGeom>
          <a:noFill/>
          <a:ln/>
        </p:spPr>
        <p:txBody>
          <a:bodyPr wrap="square" lIns="0" tIns="0" rIns="0" bIns="0" rtlCol="0" anchor="t"/>
          <a:lstStyle/>
          <a:p>
            <a:pPr indent="0" marL="0">
              <a:buNone/>
            </a:pPr>
            <a:r>
              <a:rPr lang="en-US" sz="1400" dirty="0">
                <a:solidFill>
                  <a:schemeClr val="tx1"/>
                </a:solidFill>
              </a:rPr>
              <a:t>My work spans film, animation, design, content and research. A recruiter or collaborator usually cares about only one part, and a single long portfolio buries it.</a:t>
            </a:r>
            <a:endParaRPr lang="en-US" sz="1400" dirty="0"/>
          </a:p>
        </p:txBody>
      </p:sp>
      <p:sp>
        <p:nvSpPr>
          <p:cNvPr id="5" name="Text 3"/>
          <p:cNvSpPr txBox="1"/>
          <p:nvPr/>
        </p:nvSpPr>
        <p:spPr>
          <a:xfrm>
            <a:off x="457200" y="2258568"/>
            <a:ext cx="484632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THE IDEA</a:t>
            </a:r>
            <a:endParaRPr lang="en-US" sz="1100" dirty="0"/>
          </a:p>
        </p:txBody>
      </p:sp>
      <p:sp>
        <p:nvSpPr>
          <p:cNvPr id="6" name="Text 4"/>
          <p:cNvSpPr txBox="1"/>
          <p:nvPr/>
        </p:nvSpPr>
        <p:spPr>
          <a:xfrm>
            <a:off x="457200" y="2551176"/>
            <a:ext cx="4846320" cy="777240"/>
          </a:xfrm>
          <a:prstGeom prst="rect">
            <a:avLst/>
          </a:prstGeom>
          <a:noFill/>
          <a:ln/>
        </p:spPr>
        <p:txBody>
          <a:bodyPr wrap="square" lIns="0" tIns="0" rIns="0" bIns="0" rtlCol="0" anchor="t"/>
          <a:lstStyle/>
          <a:p>
            <a:pPr indent="0" marL="0">
              <a:buNone/>
            </a:pPr>
            <a:r>
              <a:rPr lang="en-US" sz="1400" dirty="0">
                <a:solidFill>
                  <a:schemeClr val="tx1"/>
                </a:solidFill>
              </a:rPr>
              <a:t>Ask visitors why they are here, then show only the relevant work, framed for their perspective.</a:t>
            </a:r>
            <a:endParaRPr lang="en-US" sz="1400" dirty="0"/>
          </a:p>
        </p:txBody>
      </p:sp>
      <p:sp>
        <p:nvSpPr>
          <p:cNvPr id="7" name="Text 5"/>
          <p:cNvSpPr txBox="1"/>
          <p:nvPr/>
        </p:nvSpPr>
        <p:spPr>
          <a:xfrm>
            <a:off x="457200" y="3419856"/>
            <a:ext cx="484632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WHO IT'S FOR</a:t>
            </a:r>
            <a:endParaRPr lang="en-US" sz="1100" dirty="0"/>
          </a:p>
        </p:txBody>
      </p:sp>
      <p:sp>
        <p:nvSpPr>
          <p:cNvPr id="8" name="Text 6"/>
          <p:cNvSpPr txBox="1"/>
          <p:nvPr/>
        </p:nvSpPr>
        <p:spPr>
          <a:xfrm>
            <a:off x="457200" y="3712464"/>
            <a:ext cx="4846320" cy="777240"/>
          </a:xfrm>
          <a:prstGeom prst="rect">
            <a:avLst/>
          </a:prstGeom>
          <a:noFill/>
          <a:ln/>
        </p:spPr>
        <p:txBody>
          <a:bodyPr wrap="square" lIns="0" tIns="0" rIns="0" bIns="0" rtlCol="0" anchor="t"/>
          <a:lstStyle/>
          <a:p>
            <a:pPr indent="0" marL="0">
              <a:buNone/>
            </a:pPr>
            <a:r>
              <a:rPr lang="en-US" sz="1400" dirty="0">
                <a:solidFill>
                  <a:schemeClr val="tx1"/>
                </a:solidFill>
              </a:rPr>
              <a:t>Recruiters, creative collaborators, academic readers, and anyone just exploring.</a:t>
            </a:r>
            <a:endParaRPr lang="en-US" sz="1400" dirty="0"/>
          </a:p>
        </p:txBody>
      </p:sp>
      <p:sp>
        <p:nvSpPr>
          <p:cNvPr id="9" name="Stat card"/>
          <p:cNvSpPr/>
          <p:nvPr/>
        </p:nvSpPr>
        <p:spPr>
          <a:xfrm>
            <a:off x="5669280" y="1097280"/>
            <a:ext cx="3017520" cy="1005840"/>
          </a:xfrm>
          <a:prstGeom prst="roundRect">
            <a:avLst>
              <a:gd name="adj" fmla="val 727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5852160" y="1207008"/>
            <a:ext cx="26517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 3 clicks</a:t>
            </a:r>
            <a:endParaRPr lang="en-US" sz="2400" dirty="0"/>
          </a:p>
        </p:txBody>
      </p:sp>
      <p:sp>
        <p:nvSpPr>
          <p:cNvPr id="11" name="Text 9"/>
          <p:cNvSpPr txBox="1"/>
          <p:nvPr/>
        </p:nvSpPr>
        <p:spPr>
          <a:xfrm>
            <a:off x="5852160" y="1664208"/>
            <a:ext cx="2651760" cy="320040"/>
          </a:xfrm>
          <a:prstGeom prst="rect">
            <a:avLst/>
          </a:prstGeom>
          <a:noFill/>
          <a:ln/>
        </p:spPr>
        <p:txBody>
          <a:bodyPr wrap="square" lIns="0" tIns="0" rIns="0" bIns="0" rtlCol="0" anchor="ctr"/>
          <a:lstStyle/>
          <a:p>
            <a:pPr indent="0" marL="0">
              <a:buNone/>
            </a:pPr>
            <a:r>
              <a:rPr lang="en-US" sz="1100" dirty="0">
                <a:solidFill>
                  <a:schemeClr val="tx2"/>
                </a:solidFill>
              </a:rPr>
              <a:t>from landing page to relevant work</a:t>
            </a:r>
            <a:endParaRPr lang="en-US" sz="1100" dirty="0"/>
          </a:p>
        </p:txBody>
      </p:sp>
      <p:sp>
        <p:nvSpPr>
          <p:cNvPr id="12" name="Stat card"/>
          <p:cNvSpPr/>
          <p:nvPr/>
        </p:nvSpPr>
        <p:spPr>
          <a:xfrm>
            <a:off x="5669280" y="2258568"/>
            <a:ext cx="3017520" cy="1005840"/>
          </a:xfrm>
          <a:prstGeom prst="roundRect">
            <a:avLst>
              <a:gd name="adj" fmla="val 727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5852160" y="2368296"/>
            <a:ext cx="26517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 disciplines</a:t>
            </a:r>
            <a:endParaRPr lang="en-US" sz="2400" dirty="0"/>
          </a:p>
        </p:txBody>
      </p:sp>
      <p:sp>
        <p:nvSpPr>
          <p:cNvPr id="14" name="Text 12"/>
          <p:cNvSpPr txBox="1"/>
          <p:nvPr/>
        </p:nvSpPr>
        <p:spPr>
          <a:xfrm>
            <a:off x="5852160" y="2825496"/>
            <a:ext cx="2651760" cy="320040"/>
          </a:xfrm>
          <a:prstGeom prst="rect">
            <a:avLst/>
          </a:prstGeom>
          <a:noFill/>
          <a:ln/>
        </p:spPr>
        <p:txBody>
          <a:bodyPr wrap="square" lIns="0" tIns="0" rIns="0" bIns="0" rtlCol="0" anchor="ctr"/>
          <a:lstStyle/>
          <a:p>
            <a:pPr indent="0" marL="0">
              <a:buNone/>
            </a:pPr>
            <a:r>
              <a:rPr lang="en-US" sz="1100" dirty="0">
                <a:solidFill>
                  <a:schemeClr val="tx2"/>
                </a:solidFill>
              </a:rPr>
              <a:t>Film · Animation · Design · Content · Research</a:t>
            </a:r>
            <a:endParaRPr lang="en-US" sz="1100" dirty="0"/>
          </a:p>
        </p:txBody>
      </p:sp>
      <p:sp>
        <p:nvSpPr>
          <p:cNvPr id="15" name="Stat card"/>
          <p:cNvSpPr/>
          <p:nvPr/>
        </p:nvSpPr>
        <p:spPr>
          <a:xfrm>
            <a:off x="5669280" y="3419856"/>
            <a:ext cx="3017520" cy="1005840"/>
          </a:xfrm>
          <a:prstGeom prst="roundRect">
            <a:avLst>
              <a:gd name="adj" fmla="val 727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5852160" y="3529584"/>
            <a:ext cx="26517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 visitor purposes</a:t>
            </a:r>
            <a:endParaRPr lang="en-US" sz="2400" dirty="0"/>
          </a:p>
        </p:txBody>
      </p:sp>
      <p:sp>
        <p:nvSpPr>
          <p:cNvPr id="17" name="Text 15"/>
          <p:cNvSpPr txBox="1"/>
          <p:nvPr/>
        </p:nvSpPr>
        <p:spPr>
          <a:xfrm>
            <a:off x="5852160" y="3986784"/>
            <a:ext cx="2651760" cy="320040"/>
          </a:xfrm>
          <a:prstGeom prst="rect">
            <a:avLst/>
          </a:prstGeom>
          <a:noFill/>
          <a:ln/>
        </p:spPr>
        <p:txBody>
          <a:bodyPr wrap="square" lIns="0" tIns="0" rIns="0" bIns="0" rtlCol="0" anchor="ctr"/>
          <a:lstStyle/>
          <a:p>
            <a:pPr indent="0" marL="0">
              <a:buNone/>
            </a:pPr>
            <a:r>
              <a:rPr lang="en-US" sz="1100" dirty="0">
                <a:solidFill>
                  <a:schemeClr val="tx2"/>
                </a:solidFill>
              </a:rPr>
              <a:t>Hiring · Collaborating · Academic · Exploring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Objectives</a:t>
            </a:r>
            <a:endParaRPr lang="en-US" sz="3000" dirty="0"/>
          </a:p>
        </p:txBody>
      </p:sp>
      <p:sp>
        <p:nvSpPr>
          <p:cNvPr id="3" name="Objective card"/>
          <p:cNvSpPr/>
          <p:nvPr/>
        </p:nvSpPr>
        <p:spPr>
          <a:xfrm>
            <a:off x="457200" y="1097280"/>
            <a:ext cx="3977640" cy="1600200"/>
          </a:xfrm>
          <a:prstGeom prst="roundRect">
            <a:avLst>
              <a:gd name="adj" fmla="val 457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85800" y="1353312"/>
            <a:ext cx="548640" cy="548640"/>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817474" y="1484986"/>
            <a:ext cx="285293" cy="285293"/>
          </a:xfrm>
          <a:prstGeom prst="rect">
            <a:avLst/>
          </a:prstGeom>
        </p:spPr>
      </p:pic>
      <p:sp>
        <p:nvSpPr>
          <p:cNvPr id="6" name="Text 3"/>
          <p:cNvSpPr txBox="1"/>
          <p:nvPr/>
        </p:nvSpPr>
        <p:spPr>
          <a:xfrm>
            <a:off x="1417320" y="1353312"/>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Relevant work, fast</a:t>
            </a:r>
            <a:endParaRPr lang="en-US" sz="1600" dirty="0"/>
          </a:p>
        </p:txBody>
      </p:sp>
      <p:sp>
        <p:nvSpPr>
          <p:cNvPr id="7" name="Text 4"/>
          <p:cNvSpPr txBox="1"/>
          <p:nvPr/>
        </p:nvSpPr>
        <p:spPr>
          <a:xfrm>
            <a:off x="1417320" y="1755648"/>
            <a:ext cx="2834640" cy="777240"/>
          </a:xfrm>
          <a:prstGeom prst="rect">
            <a:avLst/>
          </a:prstGeom>
          <a:noFill/>
          <a:ln/>
        </p:spPr>
        <p:txBody>
          <a:bodyPr wrap="square" lIns="0" tIns="0" rIns="0" bIns="0" rtlCol="0" anchor="t"/>
          <a:lstStyle/>
          <a:p>
            <a:pPr indent="0" marL="0">
              <a:buNone/>
            </a:pPr>
            <a:r>
              <a:rPr lang="en-US" sz="1300" dirty="0">
                <a:solidFill>
                  <a:schemeClr val="tx2"/>
                </a:solidFill>
              </a:rPr>
              <a:t>Every visitor reaches work that matters to them in three clicks or fewer.</a:t>
            </a:r>
            <a:endParaRPr lang="en-US" sz="1300" dirty="0"/>
          </a:p>
        </p:txBody>
      </p:sp>
      <p:sp>
        <p:nvSpPr>
          <p:cNvPr id="8" name="Objective card"/>
          <p:cNvSpPr/>
          <p:nvPr/>
        </p:nvSpPr>
        <p:spPr>
          <a:xfrm>
            <a:off x="4709160" y="1097280"/>
            <a:ext cx="3977640" cy="1600200"/>
          </a:xfrm>
          <a:prstGeom prst="roundRect">
            <a:avLst>
              <a:gd name="adj" fmla="val 457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937760" y="1353312"/>
            <a:ext cx="548640" cy="548640"/>
          </a:xfrm>
          <a:prstGeom prst="ellipse">
            <a:avLst/>
          </a:prstGeom>
          <a:solidFill>
            <a:schemeClr val="accent2"/>
          </a:solidFill>
          <a:ln/>
        </p:spPr>
      </p:sp>
      <p:pic>
        <p:nvPicPr>
          <p:cNvPr id="10" name="Icon" descr="preencoded.png">    </p:cNvPr>
          <p:cNvPicPr>
            <a:picLocks noChangeAspect="1"/>
          </p:cNvPicPr>
          <p:nvPr/>
        </p:nvPicPr>
        <p:blipFill>
          <a:blip r:embed="rId2"/>
          <a:stretch>
            <a:fillRect/>
          </a:stretch>
        </p:blipFill>
        <p:spPr>
          <a:xfrm>
            <a:off x="5069434" y="1484986"/>
            <a:ext cx="285293" cy="285293"/>
          </a:xfrm>
          <a:prstGeom prst="rect">
            <a:avLst/>
          </a:prstGeom>
        </p:spPr>
      </p:pic>
      <p:sp>
        <p:nvSpPr>
          <p:cNvPr id="11" name="Text 7"/>
          <p:cNvSpPr txBox="1"/>
          <p:nvPr/>
        </p:nvSpPr>
        <p:spPr>
          <a:xfrm>
            <a:off x="5669280" y="1353312"/>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Different perspectives</a:t>
            </a:r>
            <a:endParaRPr lang="en-US" sz="1600" dirty="0"/>
          </a:p>
        </p:txBody>
      </p:sp>
      <p:sp>
        <p:nvSpPr>
          <p:cNvPr id="12" name="Text 8"/>
          <p:cNvSpPr txBox="1"/>
          <p:nvPr/>
        </p:nvSpPr>
        <p:spPr>
          <a:xfrm>
            <a:off x="5669280" y="1755648"/>
            <a:ext cx="2834640" cy="777240"/>
          </a:xfrm>
          <a:prstGeom prst="rect">
            <a:avLst/>
          </a:prstGeom>
          <a:noFill/>
          <a:ln/>
        </p:spPr>
        <p:txBody>
          <a:bodyPr wrap="square" lIns="0" tIns="0" rIns="0" bIns="0" rtlCol="0" anchor="t"/>
          <a:lstStyle/>
          <a:p>
            <a:pPr indent="0" marL="0">
              <a:buNone/>
            </a:pPr>
            <a:r>
              <a:rPr lang="en-US" sz="1300" dirty="0">
                <a:solidFill>
                  <a:schemeClr val="tx2"/>
                </a:solidFill>
              </a:rPr>
              <a:t>One project is framed differently for recruiters, collaborators and researchers.</a:t>
            </a:r>
            <a:endParaRPr lang="en-US" sz="1300" dirty="0"/>
          </a:p>
        </p:txBody>
      </p:sp>
      <p:sp>
        <p:nvSpPr>
          <p:cNvPr id="13" name="Objective card"/>
          <p:cNvSpPr/>
          <p:nvPr/>
        </p:nvSpPr>
        <p:spPr>
          <a:xfrm>
            <a:off x="457200" y="2880360"/>
            <a:ext cx="3977640" cy="1600200"/>
          </a:xfrm>
          <a:prstGeom prst="roundRect">
            <a:avLst>
              <a:gd name="adj" fmla="val 457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85800" y="3136392"/>
            <a:ext cx="548640" cy="548640"/>
          </a:xfrm>
          <a:prstGeom prst="ellipse">
            <a:avLst/>
          </a:prstGeom>
          <a:solidFill>
            <a:schemeClr val="accent2"/>
          </a:solidFill>
          <a:ln/>
        </p:spPr>
      </p:sp>
      <p:pic>
        <p:nvPicPr>
          <p:cNvPr id="15" name="Icon" descr="preencoded.png">    </p:cNvPr>
          <p:cNvPicPr>
            <a:picLocks noChangeAspect="1"/>
          </p:cNvPicPr>
          <p:nvPr/>
        </p:nvPicPr>
        <p:blipFill>
          <a:blip r:embed="rId3"/>
          <a:stretch>
            <a:fillRect/>
          </a:stretch>
        </p:blipFill>
        <p:spPr>
          <a:xfrm>
            <a:off x="817474" y="3268066"/>
            <a:ext cx="285293" cy="285293"/>
          </a:xfrm>
          <a:prstGeom prst="rect">
            <a:avLst/>
          </a:prstGeom>
        </p:spPr>
      </p:pic>
      <p:sp>
        <p:nvSpPr>
          <p:cNvPr id="16" name="Text 11"/>
          <p:cNvSpPr txBox="1"/>
          <p:nvPr/>
        </p:nvSpPr>
        <p:spPr>
          <a:xfrm>
            <a:off x="1417320" y="3136392"/>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Content I can manage myself</a:t>
            </a:r>
            <a:endParaRPr lang="en-US" sz="1600" dirty="0"/>
          </a:p>
        </p:txBody>
      </p:sp>
      <p:sp>
        <p:nvSpPr>
          <p:cNvPr id="17" name="Text 12"/>
          <p:cNvSpPr txBox="1"/>
          <p:nvPr/>
        </p:nvSpPr>
        <p:spPr>
          <a:xfrm>
            <a:off x="1417320" y="3538728"/>
            <a:ext cx="2834640" cy="777240"/>
          </a:xfrm>
          <a:prstGeom prst="rect">
            <a:avLst/>
          </a:prstGeom>
          <a:noFill/>
          <a:ln/>
        </p:spPr>
        <p:txBody>
          <a:bodyPr wrap="square" lIns="0" tIns="0" rIns="0" bIns="0" rtlCol="0" anchor="t"/>
          <a:lstStyle/>
          <a:p>
            <a:pPr indent="0" marL="0">
              <a:buNone/>
            </a:pPr>
            <a:r>
              <a:rPr lang="en-US" sz="1300" dirty="0">
                <a:solidFill>
                  <a:schemeClr val="tx2"/>
                </a:solidFill>
              </a:rPr>
              <a:t>Add, edit and feature projects in an admin dashboard: no code, no redeploy.</a:t>
            </a:r>
            <a:endParaRPr lang="en-US" sz="1300" dirty="0"/>
          </a:p>
        </p:txBody>
      </p:sp>
      <p:sp>
        <p:nvSpPr>
          <p:cNvPr id="18" name="Objective card"/>
          <p:cNvSpPr/>
          <p:nvPr/>
        </p:nvSpPr>
        <p:spPr>
          <a:xfrm>
            <a:off x="4709160" y="2880360"/>
            <a:ext cx="3977640" cy="1600200"/>
          </a:xfrm>
          <a:prstGeom prst="roundRect">
            <a:avLst>
              <a:gd name="adj" fmla="val 457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4937760" y="3136392"/>
            <a:ext cx="548640" cy="548640"/>
          </a:xfrm>
          <a:prstGeom prst="ellipse">
            <a:avLst/>
          </a:prstGeom>
          <a:solidFill>
            <a:schemeClr val="accent2"/>
          </a:solidFill>
          <a:ln/>
        </p:spPr>
      </p:sp>
      <p:pic>
        <p:nvPicPr>
          <p:cNvPr id="20" name="Icon" descr="preencoded.png">    </p:cNvPr>
          <p:cNvPicPr>
            <a:picLocks noChangeAspect="1"/>
          </p:cNvPicPr>
          <p:nvPr/>
        </p:nvPicPr>
        <p:blipFill>
          <a:blip r:embed="rId4"/>
          <a:stretch>
            <a:fillRect/>
          </a:stretch>
        </p:blipFill>
        <p:spPr>
          <a:xfrm>
            <a:off x="5069434" y="3268066"/>
            <a:ext cx="285293" cy="285293"/>
          </a:xfrm>
          <a:prstGeom prst="rect">
            <a:avLst/>
          </a:prstGeom>
        </p:spPr>
      </p:pic>
      <p:sp>
        <p:nvSpPr>
          <p:cNvPr id="21" name="Text 15"/>
          <p:cNvSpPr txBox="1"/>
          <p:nvPr/>
        </p:nvSpPr>
        <p:spPr>
          <a:xfrm>
            <a:off x="5669280" y="3136392"/>
            <a:ext cx="2834640" cy="365760"/>
          </a:xfrm>
          <a:prstGeom prst="rect">
            <a:avLst/>
          </a:prstGeom>
          <a:noFill/>
          <a:ln/>
        </p:spPr>
        <p:txBody>
          <a:bodyPr wrap="square" lIns="0" tIns="0" rIns="0" bIns="0" rtlCol="0" anchor="ctr"/>
          <a:lstStyle/>
          <a:p>
            <a:pPr indent="0" marL="0">
              <a:buNone/>
            </a:pPr>
            <a:r>
              <a:rPr lang="en-US" sz="1600" b="1" dirty="0">
                <a:solidFill>
                  <a:schemeClr val="tx1"/>
                </a:solidFill>
              </a:rPr>
              <a:t>Private and simple by design</a:t>
            </a:r>
            <a:endParaRPr lang="en-US" sz="1600" dirty="0"/>
          </a:p>
        </p:txBody>
      </p:sp>
      <p:sp>
        <p:nvSpPr>
          <p:cNvPr id="22" name="Text 16"/>
          <p:cNvSpPr txBox="1"/>
          <p:nvPr/>
        </p:nvSpPr>
        <p:spPr>
          <a:xfrm>
            <a:off x="5669280" y="3538728"/>
            <a:ext cx="2834640" cy="777240"/>
          </a:xfrm>
          <a:prstGeom prst="rect">
            <a:avLst/>
          </a:prstGeom>
          <a:noFill/>
          <a:ln/>
        </p:spPr>
        <p:txBody>
          <a:bodyPr wrap="square" lIns="0" tIns="0" rIns="0" bIns="0" rtlCol="0" anchor="t"/>
          <a:lstStyle/>
          <a:p>
            <a:pPr indent="0" marL="0">
              <a:buNone/>
            </a:pPr>
            <a:r>
              <a:rPr lang="en-US" sz="1300" dirty="0">
                <a:solidFill>
                  <a:schemeClr val="tx2"/>
                </a:solidFill>
              </a:rPr>
              <a:t>No visitor tracking or accounts; the database stores only the fields it needs.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Main features and contents</a:t>
            </a:r>
            <a:endParaRPr lang="en-US" sz="3000" dirty="0"/>
          </a:p>
        </p:txBody>
      </p:sp>
      <p:sp>
        <p:nvSpPr>
          <p:cNvPr id="3" name="Feature card"/>
          <p:cNvSpPr/>
          <p:nvPr/>
        </p:nvSpPr>
        <p:spPr>
          <a:xfrm>
            <a:off x="457200" y="109728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40080" y="1280160"/>
            <a:ext cx="457200" cy="457200"/>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749808" y="1389888"/>
            <a:ext cx="237744" cy="237744"/>
          </a:xfrm>
          <a:prstGeom prst="rect">
            <a:avLst/>
          </a:prstGeom>
        </p:spPr>
      </p:pic>
      <p:sp>
        <p:nvSpPr>
          <p:cNvPr id="6" name="Text 3"/>
          <p:cNvSpPr txBox="1"/>
          <p:nvPr/>
        </p:nvSpPr>
        <p:spPr>
          <a:xfrm>
            <a:off x="1207008" y="131673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Purpose selection</a:t>
            </a:r>
            <a:endParaRPr lang="en-US" sz="1500" dirty="0"/>
          </a:p>
        </p:txBody>
      </p:sp>
      <p:sp>
        <p:nvSpPr>
          <p:cNvPr id="7" name="Text 4"/>
          <p:cNvSpPr txBox="1"/>
          <p:nvPr/>
        </p:nvSpPr>
        <p:spPr>
          <a:xfrm>
            <a:off x="640080" y="1847088"/>
            <a:ext cx="2267712" cy="731520"/>
          </a:xfrm>
          <a:prstGeom prst="rect">
            <a:avLst/>
          </a:prstGeom>
          <a:noFill/>
          <a:ln/>
        </p:spPr>
        <p:txBody>
          <a:bodyPr wrap="square" lIns="0" tIns="0" rIns="0" bIns="0" rtlCol="0" anchor="t"/>
          <a:lstStyle/>
          <a:p>
            <a:pPr indent="0" marL="0">
              <a:buNone/>
            </a:pPr>
            <a:r>
              <a:rPr lang="en-US" sz="1200" dirty="0">
                <a:solidFill>
                  <a:schemeClr val="tx2"/>
                </a:solidFill>
              </a:rPr>
              <a:t>Home asks “What brings you here?”: hiring, collaborating, academic, or exploring.</a:t>
            </a:r>
            <a:endParaRPr lang="en-US" sz="1200" dirty="0"/>
          </a:p>
        </p:txBody>
      </p:sp>
      <p:sp>
        <p:nvSpPr>
          <p:cNvPr id="8" name="Feature card"/>
          <p:cNvSpPr/>
          <p:nvPr/>
        </p:nvSpPr>
        <p:spPr>
          <a:xfrm>
            <a:off x="3246120" y="109728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3429000" y="1280160"/>
            <a:ext cx="457200" cy="457200"/>
          </a:xfrm>
          <a:prstGeom prst="ellipse">
            <a:avLst/>
          </a:prstGeom>
          <a:solidFill>
            <a:schemeClr val="accent2"/>
          </a:solidFill>
          <a:ln/>
        </p:spPr>
      </p:sp>
      <p:pic>
        <p:nvPicPr>
          <p:cNvPr id="10" name="Icon" descr="preencoded.png">    </p:cNvPr>
          <p:cNvPicPr>
            <a:picLocks noChangeAspect="1"/>
          </p:cNvPicPr>
          <p:nvPr/>
        </p:nvPicPr>
        <p:blipFill>
          <a:blip r:embed="rId2"/>
          <a:stretch>
            <a:fillRect/>
          </a:stretch>
        </p:blipFill>
        <p:spPr>
          <a:xfrm>
            <a:off x="3538728" y="1389888"/>
            <a:ext cx="237744" cy="237744"/>
          </a:xfrm>
          <a:prstGeom prst="rect">
            <a:avLst/>
          </a:prstGeom>
        </p:spPr>
      </p:pic>
      <p:sp>
        <p:nvSpPr>
          <p:cNvPr id="11" name="Text 7"/>
          <p:cNvSpPr txBox="1"/>
          <p:nvPr/>
        </p:nvSpPr>
        <p:spPr>
          <a:xfrm>
            <a:off x="3995928" y="131673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Category filter</a:t>
            </a:r>
            <a:endParaRPr lang="en-US" sz="1500" dirty="0"/>
          </a:p>
        </p:txBody>
      </p:sp>
      <p:sp>
        <p:nvSpPr>
          <p:cNvPr id="12" name="Text 8"/>
          <p:cNvSpPr txBox="1"/>
          <p:nvPr/>
        </p:nvSpPr>
        <p:spPr>
          <a:xfrm>
            <a:off x="3429000" y="1847088"/>
            <a:ext cx="2267712" cy="731520"/>
          </a:xfrm>
          <a:prstGeom prst="rect">
            <a:avLst/>
          </a:prstGeom>
          <a:noFill/>
          <a:ln/>
        </p:spPr>
        <p:txBody>
          <a:bodyPr wrap="square" lIns="0" tIns="0" rIns="0" bIns="0" rtlCol="0" anchor="t"/>
          <a:lstStyle/>
          <a:p>
            <a:pPr indent="0" marL="0">
              <a:buNone/>
            </a:pPr>
            <a:r>
              <a:rPr lang="en-US" sz="1200" dirty="0">
                <a:solidFill>
                  <a:schemeClr val="tx2"/>
                </a:solidFill>
              </a:rPr>
              <a:t>Pick Film, Animation, Design, Content Creation, Research, or Other; one tap opens the list.</a:t>
            </a:r>
            <a:endParaRPr lang="en-US" sz="1200" dirty="0"/>
          </a:p>
        </p:txBody>
      </p:sp>
      <p:sp>
        <p:nvSpPr>
          <p:cNvPr id="13" name="Feature card"/>
          <p:cNvSpPr/>
          <p:nvPr/>
        </p:nvSpPr>
        <p:spPr>
          <a:xfrm>
            <a:off x="6035040" y="109728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217920" y="1280160"/>
            <a:ext cx="457200" cy="457200"/>
          </a:xfrm>
          <a:prstGeom prst="ellipse">
            <a:avLst/>
          </a:prstGeom>
          <a:solidFill>
            <a:schemeClr val="accent2"/>
          </a:solidFill>
          <a:ln/>
        </p:spPr>
      </p:sp>
      <p:pic>
        <p:nvPicPr>
          <p:cNvPr id="15" name="Icon" descr="preencoded.png">    </p:cNvPr>
          <p:cNvPicPr>
            <a:picLocks noChangeAspect="1"/>
          </p:cNvPicPr>
          <p:nvPr/>
        </p:nvPicPr>
        <p:blipFill>
          <a:blip r:embed="rId3"/>
          <a:stretch>
            <a:fillRect/>
          </a:stretch>
        </p:blipFill>
        <p:spPr>
          <a:xfrm>
            <a:off x="6327648" y="1389888"/>
            <a:ext cx="237744" cy="237744"/>
          </a:xfrm>
          <a:prstGeom prst="rect">
            <a:avLst/>
          </a:prstGeom>
        </p:spPr>
      </p:pic>
      <p:sp>
        <p:nvSpPr>
          <p:cNvPr id="16" name="Text 11"/>
          <p:cNvSpPr txBox="1"/>
          <p:nvPr/>
        </p:nvSpPr>
        <p:spPr>
          <a:xfrm>
            <a:off x="6784848" y="131673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Purpose-based detail</a:t>
            </a:r>
            <a:endParaRPr lang="en-US" sz="1500" dirty="0"/>
          </a:p>
        </p:txBody>
      </p:sp>
      <p:sp>
        <p:nvSpPr>
          <p:cNvPr id="17" name="Text 12"/>
          <p:cNvSpPr txBox="1"/>
          <p:nvPr/>
        </p:nvSpPr>
        <p:spPr>
          <a:xfrm>
            <a:off x="6217920" y="1847088"/>
            <a:ext cx="2267712" cy="731520"/>
          </a:xfrm>
          <a:prstGeom prst="rect">
            <a:avLst/>
          </a:prstGeom>
          <a:noFill/>
          <a:ln/>
        </p:spPr>
        <p:txBody>
          <a:bodyPr wrap="square" lIns="0" tIns="0" rIns="0" bIns="0" rtlCol="0" anchor="t"/>
          <a:lstStyle/>
          <a:p>
            <a:pPr indent="0" marL="0">
              <a:buNone/>
            </a:pPr>
            <a:r>
              <a:rPr lang="en-US" sz="1200" dirty="0">
                <a:solidFill>
                  <a:schemeClr val="tx2"/>
                </a:solidFill>
              </a:rPr>
              <a:t>Video, stills, and a panel “For Recruiters” or “For Collaborators”.</a:t>
            </a:r>
            <a:endParaRPr lang="en-US" sz="1200" dirty="0"/>
          </a:p>
        </p:txBody>
      </p:sp>
      <p:sp>
        <p:nvSpPr>
          <p:cNvPr id="18" name="Feature card"/>
          <p:cNvSpPr/>
          <p:nvPr/>
        </p:nvSpPr>
        <p:spPr>
          <a:xfrm>
            <a:off x="457200" y="283464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640080" y="3017520"/>
            <a:ext cx="457200" cy="457200"/>
          </a:xfrm>
          <a:prstGeom prst="ellipse">
            <a:avLst/>
          </a:prstGeom>
          <a:solidFill>
            <a:schemeClr val="accent2"/>
          </a:solidFill>
          <a:ln/>
        </p:spPr>
      </p:sp>
      <p:pic>
        <p:nvPicPr>
          <p:cNvPr id="20" name="Icon" descr="preencoded.png">    </p:cNvPr>
          <p:cNvPicPr>
            <a:picLocks noChangeAspect="1"/>
          </p:cNvPicPr>
          <p:nvPr/>
        </p:nvPicPr>
        <p:blipFill>
          <a:blip r:embed="rId4"/>
          <a:stretch>
            <a:fillRect/>
          </a:stretch>
        </p:blipFill>
        <p:spPr>
          <a:xfrm>
            <a:off x="749808" y="3127248"/>
            <a:ext cx="237744" cy="237744"/>
          </a:xfrm>
          <a:prstGeom prst="rect">
            <a:avLst/>
          </a:prstGeom>
        </p:spPr>
      </p:pic>
      <p:sp>
        <p:nvSpPr>
          <p:cNvPr id="21" name="Text 15"/>
          <p:cNvSpPr txBox="1"/>
          <p:nvPr/>
        </p:nvSpPr>
        <p:spPr>
          <a:xfrm>
            <a:off x="1207008" y="305409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About</a:t>
            </a:r>
            <a:endParaRPr lang="en-US" sz="1500" dirty="0"/>
          </a:p>
        </p:txBody>
      </p:sp>
      <p:sp>
        <p:nvSpPr>
          <p:cNvPr id="22" name="Text 16"/>
          <p:cNvSpPr txBox="1"/>
          <p:nvPr/>
        </p:nvSpPr>
        <p:spPr>
          <a:xfrm>
            <a:off x="640080" y="3584448"/>
            <a:ext cx="2267712" cy="731520"/>
          </a:xfrm>
          <a:prstGeom prst="rect">
            <a:avLst/>
          </a:prstGeom>
          <a:noFill/>
          <a:ln/>
        </p:spPr>
        <p:txBody>
          <a:bodyPr wrap="square" lIns="0" tIns="0" rIns="0" bIns="0" rtlCol="0" anchor="t"/>
          <a:lstStyle/>
          <a:p>
            <a:pPr indent="0" marL="0">
              <a:buNone/>
            </a:pPr>
            <a:r>
              <a:rPr lang="en-US" sz="1200" dirty="0">
                <a:solidFill>
                  <a:schemeClr val="tx2"/>
                </a:solidFill>
              </a:rPr>
              <a:t>Profile, skills, experience, education, and a CV download link.</a:t>
            </a:r>
            <a:endParaRPr lang="en-US" sz="1200" dirty="0"/>
          </a:p>
        </p:txBody>
      </p:sp>
      <p:sp>
        <p:nvSpPr>
          <p:cNvPr id="23" name="Feature card"/>
          <p:cNvSpPr/>
          <p:nvPr/>
        </p:nvSpPr>
        <p:spPr>
          <a:xfrm>
            <a:off x="3246120" y="283464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3429000" y="3017520"/>
            <a:ext cx="457200" cy="457200"/>
          </a:xfrm>
          <a:prstGeom prst="ellipse">
            <a:avLst/>
          </a:prstGeom>
          <a:solidFill>
            <a:schemeClr val="accent2"/>
          </a:solidFill>
          <a:ln/>
        </p:spPr>
      </p:sp>
      <p:pic>
        <p:nvPicPr>
          <p:cNvPr id="25" name="Icon" descr="preencoded.png">    </p:cNvPr>
          <p:cNvPicPr>
            <a:picLocks noChangeAspect="1"/>
          </p:cNvPicPr>
          <p:nvPr/>
        </p:nvPicPr>
        <p:blipFill>
          <a:blip r:embed="rId5"/>
          <a:stretch>
            <a:fillRect/>
          </a:stretch>
        </p:blipFill>
        <p:spPr>
          <a:xfrm>
            <a:off x="3538728" y="3127248"/>
            <a:ext cx="237744" cy="237744"/>
          </a:xfrm>
          <a:prstGeom prst="rect">
            <a:avLst/>
          </a:prstGeom>
        </p:spPr>
      </p:pic>
      <p:sp>
        <p:nvSpPr>
          <p:cNvPr id="26" name="Text 19"/>
          <p:cNvSpPr txBox="1"/>
          <p:nvPr/>
        </p:nvSpPr>
        <p:spPr>
          <a:xfrm>
            <a:off x="3995928" y="305409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Contact</a:t>
            </a:r>
            <a:endParaRPr lang="en-US" sz="1500" dirty="0"/>
          </a:p>
        </p:txBody>
      </p:sp>
      <p:sp>
        <p:nvSpPr>
          <p:cNvPr id="27" name="Text 20"/>
          <p:cNvSpPr txBox="1"/>
          <p:nvPr/>
        </p:nvSpPr>
        <p:spPr>
          <a:xfrm>
            <a:off x="3429000" y="3584448"/>
            <a:ext cx="2267712" cy="731520"/>
          </a:xfrm>
          <a:prstGeom prst="rect">
            <a:avLst/>
          </a:prstGeom>
          <a:noFill/>
          <a:ln/>
        </p:spPr>
        <p:txBody>
          <a:bodyPr wrap="square" lIns="0" tIns="0" rIns="0" bIns="0" rtlCol="0" anchor="t"/>
          <a:lstStyle/>
          <a:p>
            <a:pPr indent="0" marL="0">
              <a:buNone/>
            </a:pPr>
            <a:r>
              <a:rPr lang="en-US" sz="1200" dirty="0">
                <a:solidFill>
                  <a:schemeClr val="tx2"/>
                </a:solidFill>
              </a:rPr>
              <a:t>Validated form with inline errors; messages are saved to the database.</a:t>
            </a:r>
            <a:endParaRPr lang="en-US" sz="1200" dirty="0"/>
          </a:p>
        </p:txBody>
      </p:sp>
      <p:sp>
        <p:nvSpPr>
          <p:cNvPr id="28" name="Feature card"/>
          <p:cNvSpPr/>
          <p:nvPr/>
        </p:nvSpPr>
        <p:spPr>
          <a:xfrm>
            <a:off x="6035040" y="2834640"/>
            <a:ext cx="2606040" cy="1572768"/>
          </a:xfrm>
          <a:prstGeom prst="roundRect">
            <a:avLst>
              <a:gd name="adj" fmla="val 4651"/>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9" name="Icon circle"/>
          <p:cNvSpPr/>
          <p:nvPr/>
        </p:nvSpPr>
        <p:spPr>
          <a:xfrm>
            <a:off x="6217920" y="3017520"/>
            <a:ext cx="457200" cy="457200"/>
          </a:xfrm>
          <a:prstGeom prst="ellipse">
            <a:avLst/>
          </a:prstGeom>
          <a:solidFill>
            <a:schemeClr val="accent2"/>
          </a:solidFill>
          <a:ln/>
        </p:spPr>
      </p:sp>
      <p:pic>
        <p:nvPicPr>
          <p:cNvPr id="30" name="Icon" descr="preencoded.png">    </p:cNvPr>
          <p:cNvPicPr>
            <a:picLocks noChangeAspect="1"/>
          </p:cNvPicPr>
          <p:nvPr/>
        </p:nvPicPr>
        <p:blipFill>
          <a:blip r:embed="rId6"/>
          <a:stretch>
            <a:fillRect/>
          </a:stretch>
        </p:blipFill>
        <p:spPr>
          <a:xfrm>
            <a:off x="6327648" y="3127248"/>
            <a:ext cx="237744" cy="237744"/>
          </a:xfrm>
          <a:prstGeom prst="rect">
            <a:avLst/>
          </a:prstGeom>
        </p:spPr>
      </p:pic>
      <p:sp>
        <p:nvSpPr>
          <p:cNvPr id="31" name="Text 23"/>
          <p:cNvSpPr txBox="1"/>
          <p:nvPr/>
        </p:nvSpPr>
        <p:spPr>
          <a:xfrm>
            <a:off x="6784848" y="3054096"/>
            <a:ext cx="1737360" cy="384048"/>
          </a:xfrm>
          <a:prstGeom prst="rect">
            <a:avLst/>
          </a:prstGeom>
          <a:noFill/>
          <a:ln/>
        </p:spPr>
        <p:txBody>
          <a:bodyPr wrap="square" lIns="0" tIns="0" rIns="0" bIns="0" rtlCol="0" anchor="ctr"/>
          <a:lstStyle/>
          <a:p>
            <a:pPr indent="0" marL="0">
              <a:buNone/>
            </a:pPr>
            <a:r>
              <a:rPr lang="en-US" sz="1500" b="1" dirty="0">
                <a:solidFill>
                  <a:schemeClr val="tx1"/>
                </a:solidFill>
              </a:rPr>
              <a:t>Admin dashboard</a:t>
            </a:r>
            <a:endParaRPr lang="en-US" sz="1500" dirty="0"/>
          </a:p>
        </p:txBody>
      </p:sp>
      <p:sp>
        <p:nvSpPr>
          <p:cNvPr id="32" name="Text 24"/>
          <p:cNvSpPr txBox="1"/>
          <p:nvPr/>
        </p:nvSpPr>
        <p:spPr>
          <a:xfrm>
            <a:off x="6217920" y="3584448"/>
            <a:ext cx="2267712" cy="731520"/>
          </a:xfrm>
          <a:prstGeom prst="rect">
            <a:avLst/>
          </a:prstGeom>
          <a:noFill/>
          <a:ln/>
        </p:spPr>
        <p:txBody>
          <a:bodyPr wrap="square" lIns="0" tIns="0" rIns="0" bIns="0" rtlCol="0" anchor="t"/>
          <a:lstStyle/>
          <a:p>
            <a:pPr indent="0" marL="0">
              <a:buNone/>
            </a:pPr>
            <a:r>
              <a:rPr lang="en-US" sz="1200" dirty="0">
                <a:solidFill>
                  <a:schemeClr val="tx2"/>
                </a:solidFill>
              </a:rPr>
              <a:t>Private login to add, edit, delete and feature projects, and read messages.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How a visitor moves through the site</a:t>
            </a:r>
            <a:endParaRPr lang="en-US" sz="3000" dirty="0"/>
          </a:p>
        </p:txBody>
      </p:sp>
      <p:sp>
        <p:nvSpPr>
          <p:cNvPr id="3" name="Step number"/>
          <p:cNvSpPr/>
          <p:nvPr/>
        </p:nvSpPr>
        <p:spPr>
          <a:xfrm>
            <a:off x="457200" y="1051560"/>
            <a:ext cx="310896" cy="310896"/>
          </a:xfrm>
          <a:prstGeom prst="ellipse">
            <a:avLst/>
          </a:prstGeom>
          <a:solidFill>
            <a:schemeClr val="accent1"/>
          </a:solidFill>
          <a:ln/>
        </p:spPr>
      </p:sp>
      <p:sp>
        <p:nvSpPr>
          <p:cNvPr id="4" name="Text 2"/>
          <p:cNvSpPr txBox="1"/>
          <p:nvPr/>
        </p:nvSpPr>
        <p:spPr>
          <a:xfrm>
            <a:off x="457200" y="10515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Screenshot frame"/>
          <p:cNvSpPr/>
          <p:nvPr/>
        </p:nvSpPr>
        <p:spPr>
          <a:xfrm>
            <a:off x="457200" y="1481328"/>
            <a:ext cx="1874520" cy="1171575"/>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6" name="Screenshot" descr="Choose a purpose screen">    </p:cNvPr>
          <p:cNvPicPr>
            <a:picLocks noChangeAspect="1"/>
          </p:cNvPicPr>
          <p:nvPr/>
        </p:nvPicPr>
        <p:blipFill>
          <a:blip r:embed="rId1"/>
          <a:stretch>
            <a:fillRect/>
          </a:stretch>
        </p:blipFill>
        <p:spPr>
          <a:xfrm>
            <a:off x="457200" y="1481328"/>
            <a:ext cx="1874520" cy="1171575"/>
          </a:xfrm>
          <a:prstGeom prst="rect">
            <a:avLst/>
          </a:prstGeom>
        </p:spPr>
      </p:pic>
      <p:sp>
        <p:nvSpPr>
          <p:cNvPr id="7" name="Text 4"/>
          <p:cNvSpPr txBox="1"/>
          <p:nvPr/>
        </p:nvSpPr>
        <p:spPr>
          <a:xfrm>
            <a:off x="457200" y="2743200"/>
            <a:ext cx="1874520" cy="292608"/>
          </a:xfrm>
          <a:prstGeom prst="rect">
            <a:avLst/>
          </a:prstGeom>
          <a:noFill/>
          <a:ln/>
        </p:spPr>
        <p:txBody>
          <a:bodyPr wrap="square" lIns="0" tIns="0" rIns="0" bIns="0" rtlCol="0" anchor="ctr"/>
          <a:lstStyle/>
          <a:p>
            <a:pPr indent="0" marL="0">
              <a:buNone/>
            </a:pPr>
            <a:r>
              <a:rPr lang="en-US" sz="1400" b="1" dirty="0">
                <a:solidFill>
                  <a:schemeClr val="tx1"/>
                </a:solidFill>
              </a:rPr>
              <a:t>Choose a purpose</a:t>
            </a:r>
            <a:endParaRPr lang="en-US" sz="1400" dirty="0"/>
          </a:p>
        </p:txBody>
      </p:sp>
      <p:sp>
        <p:nvSpPr>
          <p:cNvPr id="8" name="Text 5"/>
          <p:cNvSpPr txBox="1"/>
          <p:nvPr/>
        </p:nvSpPr>
        <p:spPr>
          <a:xfrm>
            <a:off x="457200" y="3035808"/>
            <a:ext cx="1874520" cy="274320"/>
          </a:xfrm>
          <a:prstGeom prst="rect">
            <a:avLst/>
          </a:prstGeom>
          <a:noFill/>
          <a:ln/>
        </p:spPr>
        <p:txBody>
          <a:bodyPr wrap="square" lIns="0" tIns="0" rIns="0" bIns="0" rtlCol="0" anchor="ctr"/>
          <a:lstStyle/>
          <a:p>
            <a:pPr indent="0" marL="0">
              <a:buNone/>
            </a:pPr>
            <a:r>
              <a:rPr lang="en-US" sz="1200" dirty="0">
                <a:solidFill>
                  <a:schemeClr val="tx2"/>
                </a:solidFill>
              </a:rPr>
              <a:t>“I'm hiring / recruiting”</a:t>
            </a:r>
            <a:endParaRPr lang="en-US" sz="1200" dirty="0"/>
          </a:p>
        </p:txBody>
      </p:sp>
      <p:pic>
        <p:nvPicPr>
          <p:cNvPr id="9" name="Arrow" descr="preencoded.png">    </p:cNvPr>
          <p:cNvPicPr>
            <a:picLocks noChangeAspect="1"/>
          </p:cNvPicPr>
          <p:nvPr/>
        </p:nvPicPr>
        <p:blipFill>
          <a:blip r:embed="rId2"/>
          <a:stretch>
            <a:fillRect/>
          </a:stretch>
        </p:blipFill>
        <p:spPr>
          <a:xfrm>
            <a:off x="2359152" y="1993392"/>
            <a:ext cx="201168" cy="201168"/>
          </a:xfrm>
          <a:prstGeom prst="rect">
            <a:avLst/>
          </a:prstGeom>
        </p:spPr>
      </p:pic>
      <p:sp>
        <p:nvSpPr>
          <p:cNvPr id="10" name="Step number"/>
          <p:cNvSpPr/>
          <p:nvPr/>
        </p:nvSpPr>
        <p:spPr>
          <a:xfrm>
            <a:off x="2587752" y="1051560"/>
            <a:ext cx="310896" cy="310896"/>
          </a:xfrm>
          <a:prstGeom prst="ellipse">
            <a:avLst/>
          </a:prstGeom>
          <a:solidFill>
            <a:schemeClr val="accent1"/>
          </a:solidFill>
          <a:ln/>
        </p:spPr>
      </p:sp>
      <p:sp>
        <p:nvSpPr>
          <p:cNvPr id="11" name="Text 7"/>
          <p:cNvSpPr txBox="1"/>
          <p:nvPr/>
        </p:nvSpPr>
        <p:spPr>
          <a:xfrm>
            <a:off x="2587752" y="10515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Screenshot frame"/>
          <p:cNvSpPr/>
          <p:nvPr/>
        </p:nvSpPr>
        <p:spPr>
          <a:xfrm>
            <a:off x="2587752" y="1481328"/>
            <a:ext cx="1874520" cy="1171575"/>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13" name="Screenshot" descr="Choose a type of work screen">    </p:cNvPr>
          <p:cNvPicPr>
            <a:picLocks noChangeAspect="1"/>
          </p:cNvPicPr>
          <p:nvPr/>
        </p:nvPicPr>
        <p:blipFill>
          <a:blip r:embed="rId3"/>
          <a:stretch>
            <a:fillRect/>
          </a:stretch>
        </p:blipFill>
        <p:spPr>
          <a:xfrm>
            <a:off x="2587752" y="1481328"/>
            <a:ext cx="1874520" cy="1171575"/>
          </a:xfrm>
          <a:prstGeom prst="rect">
            <a:avLst/>
          </a:prstGeom>
        </p:spPr>
      </p:pic>
      <p:sp>
        <p:nvSpPr>
          <p:cNvPr id="14" name="Text 9"/>
          <p:cNvSpPr txBox="1"/>
          <p:nvPr/>
        </p:nvSpPr>
        <p:spPr>
          <a:xfrm>
            <a:off x="2587752" y="2743200"/>
            <a:ext cx="1874520" cy="292608"/>
          </a:xfrm>
          <a:prstGeom prst="rect">
            <a:avLst/>
          </a:prstGeom>
          <a:noFill/>
          <a:ln/>
        </p:spPr>
        <p:txBody>
          <a:bodyPr wrap="square" lIns="0" tIns="0" rIns="0" bIns="0" rtlCol="0" anchor="ctr"/>
          <a:lstStyle/>
          <a:p>
            <a:pPr indent="0" marL="0">
              <a:buNone/>
            </a:pPr>
            <a:r>
              <a:rPr lang="en-US" sz="1400" b="1" dirty="0">
                <a:solidFill>
                  <a:schemeClr val="tx1"/>
                </a:solidFill>
              </a:rPr>
              <a:t>Choose a type of work</a:t>
            </a:r>
            <a:endParaRPr lang="en-US" sz="1400" dirty="0"/>
          </a:p>
        </p:txBody>
      </p:sp>
      <p:sp>
        <p:nvSpPr>
          <p:cNvPr id="15" name="Text 10"/>
          <p:cNvSpPr txBox="1"/>
          <p:nvPr/>
        </p:nvSpPr>
        <p:spPr>
          <a:xfrm>
            <a:off x="2587752" y="3035808"/>
            <a:ext cx="1874520" cy="274320"/>
          </a:xfrm>
          <a:prstGeom prst="rect">
            <a:avLst/>
          </a:prstGeom>
          <a:noFill/>
          <a:ln/>
        </p:spPr>
        <p:txBody>
          <a:bodyPr wrap="square" lIns="0" tIns="0" rIns="0" bIns="0" rtlCol="0" anchor="ctr"/>
          <a:lstStyle/>
          <a:p>
            <a:pPr indent="0" marL="0">
              <a:buNone/>
            </a:pPr>
            <a:r>
              <a:rPr lang="en-US" sz="1200" dirty="0">
                <a:solidFill>
                  <a:schemeClr val="tx2"/>
                </a:solidFill>
              </a:rPr>
              <a:t>One tap, e.g. Film</a:t>
            </a:r>
            <a:endParaRPr lang="en-US" sz="1200" dirty="0"/>
          </a:p>
        </p:txBody>
      </p:sp>
      <p:pic>
        <p:nvPicPr>
          <p:cNvPr id="16" name="Arrow" descr="preencoded.png">    </p:cNvPr>
          <p:cNvPicPr>
            <a:picLocks noChangeAspect="1"/>
          </p:cNvPicPr>
          <p:nvPr/>
        </p:nvPicPr>
        <p:blipFill>
          <a:blip r:embed="rId4"/>
          <a:stretch>
            <a:fillRect/>
          </a:stretch>
        </p:blipFill>
        <p:spPr>
          <a:xfrm>
            <a:off x="4489704" y="1993392"/>
            <a:ext cx="201168" cy="201168"/>
          </a:xfrm>
          <a:prstGeom prst="rect">
            <a:avLst/>
          </a:prstGeom>
        </p:spPr>
      </p:pic>
      <p:sp>
        <p:nvSpPr>
          <p:cNvPr id="17" name="Step number"/>
          <p:cNvSpPr/>
          <p:nvPr/>
        </p:nvSpPr>
        <p:spPr>
          <a:xfrm>
            <a:off x="4718304" y="1051560"/>
            <a:ext cx="310896" cy="310896"/>
          </a:xfrm>
          <a:prstGeom prst="ellipse">
            <a:avLst/>
          </a:prstGeom>
          <a:solidFill>
            <a:schemeClr val="accent1"/>
          </a:solidFill>
          <a:ln/>
        </p:spPr>
      </p:sp>
      <p:sp>
        <p:nvSpPr>
          <p:cNvPr id="18" name="Text 12"/>
          <p:cNvSpPr txBox="1"/>
          <p:nvPr/>
        </p:nvSpPr>
        <p:spPr>
          <a:xfrm>
            <a:off x="4718304" y="10515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Screenshot frame"/>
          <p:cNvSpPr/>
          <p:nvPr/>
        </p:nvSpPr>
        <p:spPr>
          <a:xfrm>
            <a:off x="4718304" y="1481328"/>
            <a:ext cx="1874520" cy="1171575"/>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20" name="Screenshot" descr="See matching projects screen">    </p:cNvPr>
          <p:cNvPicPr>
            <a:picLocks noChangeAspect="1"/>
          </p:cNvPicPr>
          <p:nvPr/>
        </p:nvPicPr>
        <p:blipFill>
          <a:blip r:embed="rId5"/>
          <a:stretch>
            <a:fillRect/>
          </a:stretch>
        </p:blipFill>
        <p:spPr>
          <a:xfrm>
            <a:off x="4718304" y="1481328"/>
            <a:ext cx="1874520" cy="1171575"/>
          </a:xfrm>
          <a:prstGeom prst="rect">
            <a:avLst/>
          </a:prstGeom>
        </p:spPr>
      </p:pic>
      <p:sp>
        <p:nvSpPr>
          <p:cNvPr id="21" name="Text 14"/>
          <p:cNvSpPr txBox="1"/>
          <p:nvPr/>
        </p:nvSpPr>
        <p:spPr>
          <a:xfrm>
            <a:off x="4718304" y="2743200"/>
            <a:ext cx="1874520" cy="292608"/>
          </a:xfrm>
          <a:prstGeom prst="rect">
            <a:avLst/>
          </a:prstGeom>
          <a:noFill/>
          <a:ln/>
        </p:spPr>
        <p:txBody>
          <a:bodyPr wrap="square" lIns="0" tIns="0" rIns="0" bIns="0" rtlCol="0" anchor="ctr"/>
          <a:lstStyle/>
          <a:p>
            <a:pPr indent="0" marL="0">
              <a:buNone/>
            </a:pPr>
            <a:r>
              <a:rPr lang="en-US" sz="1400" b="1" dirty="0">
                <a:solidFill>
                  <a:schemeClr val="tx1"/>
                </a:solidFill>
              </a:rPr>
              <a:t>See matching projects</a:t>
            </a:r>
            <a:endParaRPr lang="en-US" sz="1400" dirty="0"/>
          </a:p>
        </p:txBody>
      </p:sp>
      <p:sp>
        <p:nvSpPr>
          <p:cNvPr id="22" name="Text 15"/>
          <p:cNvSpPr txBox="1"/>
          <p:nvPr/>
        </p:nvSpPr>
        <p:spPr>
          <a:xfrm>
            <a:off x="4718304" y="3035808"/>
            <a:ext cx="1874520" cy="274320"/>
          </a:xfrm>
          <a:prstGeom prst="rect">
            <a:avLst/>
          </a:prstGeom>
          <a:noFill/>
          <a:ln/>
        </p:spPr>
        <p:txBody>
          <a:bodyPr wrap="square" lIns="0" tIns="0" rIns="0" bIns="0" rtlCol="0" anchor="ctr"/>
          <a:lstStyle/>
          <a:p>
            <a:pPr indent="0" marL="0">
              <a:buNone/>
            </a:pPr>
            <a:r>
              <a:rPr lang="en-US" sz="1200" dirty="0">
                <a:solidFill>
                  <a:schemeClr val="tx2"/>
                </a:solidFill>
              </a:rPr>
              <a:t>Newest first, with tags</a:t>
            </a:r>
            <a:endParaRPr lang="en-US" sz="1200" dirty="0"/>
          </a:p>
        </p:txBody>
      </p:sp>
      <p:pic>
        <p:nvPicPr>
          <p:cNvPr id="23" name="Arrow" descr="preencoded.png">    </p:cNvPr>
          <p:cNvPicPr>
            <a:picLocks noChangeAspect="1"/>
          </p:cNvPicPr>
          <p:nvPr/>
        </p:nvPicPr>
        <p:blipFill>
          <a:blip r:embed="rId6"/>
          <a:stretch>
            <a:fillRect/>
          </a:stretch>
        </p:blipFill>
        <p:spPr>
          <a:xfrm>
            <a:off x="6620256" y="1993392"/>
            <a:ext cx="201168" cy="201168"/>
          </a:xfrm>
          <a:prstGeom prst="rect">
            <a:avLst/>
          </a:prstGeom>
        </p:spPr>
      </p:pic>
      <p:sp>
        <p:nvSpPr>
          <p:cNvPr id="24" name="Step number"/>
          <p:cNvSpPr/>
          <p:nvPr/>
        </p:nvSpPr>
        <p:spPr>
          <a:xfrm>
            <a:off x="6848856" y="1051560"/>
            <a:ext cx="310896" cy="310896"/>
          </a:xfrm>
          <a:prstGeom prst="ellipse">
            <a:avLst/>
          </a:prstGeom>
          <a:solidFill>
            <a:schemeClr val="accent1"/>
          </a:solidFill>
          <a:ln/>
        </p:spPr>
      </p:sp>
      <p:sp>
        <p:nvSpPr>
          <p:cNvPr id="25" name="Text 17"/>
          <p:cNvSpPr txBox="1"/>
          <p:nvPr/>
        </p:nvSpPr>
        <p:spPr>
          <a:xfrm>
            <a:off x="6848856" y="105156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Screenshot frame"/>
          <p:cNvSpPr/>
          <p:nvPr/>
        </p:nvSpPr>
        <p:spPr>
          <a:xfrm>
            <a:off x="6848856" y="1481328"/>
            <a:ext cx="1874520" cy="1171575"/>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27" name="Screenshot" descr="Open a project screen">    </p:cNvPr>
          <p:cNvPicPr>
            <a:picLocks noChangeAspect="1"/>
          </p:cNvPicPr>
          <p:nvPr/>
        </p:nvPicPr>
        <p:blipFill>
          <a:blip r:embed="rId7"/>
          <a:stretch>
            <a:fillRect/>
          </a:stretch>
        </p:blipFill>
        <p:spPr>
          <a:xfrm>
            <a:off x="6848856" y="1481328"/>
            <a:ext cx="1874520" cy="1171575"/>
          </a:xfrm>
          <a:prstGeom prst="rect">
            <a:avLst/>
          </a:prstGeom>
        </p:spPr>
      </p:pic>
      <p:sp>
        <p:nvSpPr>
          <p:cNvPr id="28" name="Text 19"/>
          <p:cNvSpPr txBox="1"/>
          <p:nvPr/>
        </p:nvSpPr>
        <p:spPr>
          <a:xfrm>
            <a:off x="6848856" y="2743200"/>
            <a:ext cx="1874520" cy="292608"/>
          </a:xfrm>
          <a:prstGeom prst="rect">
            <a:avLst/>
          </a:prstGeom>
          <a:noFill/>
          <a:ln/>
        </p:spPr>
        <p:txBody>
          <a:bodyPr wrap="square" lIns="0" tIns="0" rIns="0" bIns="0" rtlCol="0" anchor="ctr"/>
          <a:lstStyle/>
          <a:p>
            <a:pPr indent="0" marL="0">
              <a:buNone/>
            </a:pPr>
            <a:r>
              <a:rPr lang="en-US" sz="1400" b="1" dirty="0">
                <a:solidFill>
                  <a:schemeClr val="tx1"/>
                </a:solidFill>
              </a:rPr>
              <a:t>Open a project</a:t>
            </a:r>
            <a:endParaRPr lang="en-US" sz="1400" dirty="0"/>
          </a:p>
        </p:txBody>
      </p:sp>
      <p:sp>
        <p:nvSpPr>
          <p:cNvPr id="29" name="Text 20"/>
          <p:cNvSpPr txBox="1"/>
          <p:nvPr/>
        </p:nvSpPr>
        <p:spPr>
          <a:xfrm>
            <a:off x="6848856" y="3035808"/>
            <a:ext cx="1874520" cy="274320"/>
          </a:xfrm>
          <a:prstGeom prst="rect">
            <a:avLst/>
          </a:prstGeom>
          <a:noFill/>
          <a:ln/>
        </p:spPr>
        <p:txBody>
          <a:bodyPr wrap="square" lIns="0" tIns="0" rIns="0" bIns="0" rtlCol="0" anchor="ctr"/>
          <a:lstStyle/>
          <a:p>
            <a:pPr indent="0" marL="0">
              <a:buNone/>
            </a:pPr>
            <a:r>
              <a:rPr lang="en-US" sz="1200" dirty="0">
                <a:solidFill>
                  <a:schemeClr val="tx2"/>
                </a:solidFill>
              </a:rPr>
              <a:t>Panel for recruiters</a:t>
            </a:r>
            <a:endParaRPr lang="en-US" sz="1200" dirty="0"/>
          </a:p>
        </p:txBody>
      </p:sp>
      <p:sp>
        <p:nvSpPr>
          <p:cNvPr id="30" name="Callout"/>
          <p:cNvSpPr/>
          <p:nvPr/>
        </p:nvSpPr>
        <p:spPr>
          <a:xfrm>
            <a:off x="457200" y="3703320"/>
            <a:ext cx="8229600" cy="731520"/>
          </a:xfrm>
          <a:prstGeom prst="roundRect">
            <a:avLst>
              <a:gd name="adj" fmla="val 10000"/>
            </a:avLst>
          </a:prstGeom>
          <a:solidFill>
            <a:schemeClr val="accent2"/>
          </a:solidFill>
          <a:ln w="9525">
            <a:solidFill>
              <a:schemeClr val="accent2"/>
            </a:solidFill>
            <a:prstDash val="solid"/>
          </a:ln>
        </p:spPr>
      </p:sp>
      <p:sp>
        <p:nvSpPr>
          <p:cNvPr id="31" name="Text 22"/>
          <p:cNvSpPr txBox="1"/>
          <p:nvPr/>
        </p:nvSpPr>
        <p:spPr>
          <a:xfrm>
            <a:off x="685800" y="3703320"/>
            <a:ext cx="7772400" cy="731520"/>
          </a:xfrm>
          <a:prstGeom prst="rect">
            <a:avLst/>
          </a:prstGeom>
          <a:noFill/>
          <a:ln/>
        </p:spPr>
        <p:txBody>
          <a:bodyPr wrap="square" lIns="0" tIns="0" rIns="0" bIns="0" rtlCol="0" anchor="ctr"/>
          <a:lstStyle/>
          <a:p>
            <a:pPr indent="0" marL="0">
              <a:buNone/>
            </a:pPr>
            <a:r>
              <a:rPr lang="en-US" sz="1400" b="1" dirty="0">
                <a:solidFill>
                  <a:schemeClr val="accent1"/>
                </a:solidFill>
              </a:rPr>
              <a:t>3 clicks </a:t>
            </a:r>
            <a:pPr indent="0" marL="0">
              <a:buNone/>
            </a:pPr>
            <a:r>
              <a:rPr lang="en-US" sz="1400" dirty="0">
                <a:solidFill>
                  <a:schemeClr val="tx1"/>
                </a:solidFill>
              </a:rPr>
              <a:t>for hiring and collaborators (purpose → type → project).  </a:t>
            </a:r>
            <a:pPr indent="0" marL="0">
              <a:buNone/>
            </a:pPr>
            <a:r>
              <a:rPr lang="en-US" sz="1400" b="1" dirty="0">
                <a:solidFill>
                  <a:schemeClr val="accent1"/>
                </a:solidFill>
              </a:rPr>
              <a:t>2 clicks </a:t>
            </a:r>
            <a:pPr indent="0" marL="0">
              <a:buNone/>
            </a:pPr>
            <a:r>
              <a:rPr lang="en-US" sz="1400" dirty="0">
                <a:solidFill>
                  <a:schemeClr val="tx1"/>
                </a:solidFill>
              </a:rPr>
              <a:t>for academic and exploring visitors, who skip the type step.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Same work, different perspectives</a:t>
            </a:r>
            <a:endParaRPr lang="en-US" sz="3000" dirty="0"/>
          </a:p>
        </p:txBody>
      </p:sp>
      <p:sp>
        <p:nvSpPr>
          <p:cNvPr id="3" name="Screenshot frame"/>
          <p:cNvSpPr/>
          <p:nvPr/>
        </p:nvSpPr>
        <p:spPr>
          <a:xfrm>
            <a:off x="457200" y="1097280"/>
            <a:ext cx="3931920" cy="2457450"/>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4" name="Screenshot" descr="For Recruiters project detail">    </p:cNvPr>
          <p:cNvPicPr>
            <a:picLocks noChangeAspect="1"/>
          </p:cNvPicPr>
          <p:nvPr/>
        </p:nvPicPr>
        <p:blipFill>
          <a:blip r:embed="rId1"/>
          <a:stretch>
            <a:fillRect/>
          </a:stretch>
        </p:blipFill>
        <p:spPr>
          <a:xfrm>
            <a:off x="457200" y="1097280"/>
            <a:ext cx="3931920" cy="2457450"/>
          </a:xfrm>
          <a:prstGeom prst="rect">
            <a:avLst/>
          </a:prstGeom>
        </p:spPr>
      </p:pic>
      <p:sp>
        <p:nvSpPr>
          <p:cNvPr id="5" name="Text 2"/>
          <p:cNvSpPr txBox="1"/>
          <p:nvPr/>
        </p:nvSpPr>
        <p:spPr>
          <a:xfrm>
            <a:off x="457200" y="3719322"/>
            <a:ext cx="3931920" cy="310896"/>
          </a:xfrm>
          <a:prstGeom prst="rect">
            <a:avLst/>
          </a:prstGeom>
          <a:noFill/>
          <a:ln/>
        </p:spPr>
        <p:txBody>
          <a:bodyPr wrap="square" lIns="0" tIns="0" rIns="0" bIns="0" rtlCol="0" anchor="ctr"/>
          <a:lstStyle/>
          <a:p>
            <a:pPr indent="0" marL="0">
              <a:buNone/>
            </a:pPr>
            <a:r>
              <a:rPr lang="en-US" sz="1500" b="1" dirty="0">
                <a:solidFill>
                  <a:schemeClr val="tx1"/>
                </a:solidFill>
              </a:rPr>
              <a:t>For Recruiters</a:t>
            </a:r>
            <a:endParaRPr lang="en-US" sz="1500" dirty="0"/>
          </a:p>
        </p:txBody>
      </p:sp>
      <p:sp>
        <p:nvSpPr>
          <p:cNvPr id="6" name="Text 3"/>
          <p:cNvSpPr txBox="1"/>
          <p:nvPr/>
        </p:nvSpPr>
        <p:spPr>
          <a:xfrm>
            <a:off x="457200" y="4030218"/>
            <a:ext cx="3931920" cy="274320"/>
          </a:xfrm>
          <a:prstGeom prst="rect">
            <a:avLst/>
          </a:prstGeom>
          <a:noFill/>
          <a:ln/>
        </p:spPr>
        <p:txBody>
          <a:bodyPr wrap="square" lIns="0" tIns="0" rIns="0" bIns="0" rtlCol="0" anchor="ctr"/>
          <a:lstStyle/>
          <a:p>
            <a:pPr indent="0" marL="0">
              <a:buNone/>
            </a:pPr>
            <a:r>
              <a:rPr lang="en-US" sz="1200" dirty="0">
                <a:solidFill>
                  <a:schemeClr val="tx2"/>
                </a:solidFill>
              </a:rPr>
              <a:t>My role · Key skills · Responsibilities</a:t>
            </a:r>
            <a:endParaRPr lang="en-US" sz="1200" dirty="0"/>
          </a:p>
        </p:txBody>
      </p:sp>
      <p:sp>
        <p:nvSpPr>
          <p:cNvPr id="7" name="Screenshot frame"/>
          <p:cNvSpPr/>
          <p:nvPr/>
        </p:nvSpPr>
        <p:spPr>
          <a:xfrm>
            <a:off x="4754880" y="1097280"/>
            <a:ext cx="3931920" cy="2457450"/>
          </a:xfrm>
          <a:prstGeom prst="rect">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8" name="Screenshot" descr="For Collaborators project detail">    </p:cNvPr>
          <p:cNvPicPr>
            <a:picLocks noChangeAspect="1"/>
          </p:cNvPicPr>
          <p:nvPr/>
        </p:nvPicPr>
        <p:blipFill>
          <a:blip r:embed="rId2"/>
          <a:stretch>
            <a:fillRect/>
          </a:stretch>
        </p:blipFill>
        <p:spPr>
          <a:xfrm>
            <a:off x="4754880" y="1097280"/>
            <a:ext cx="3931920" cy="2457450"/>
          </a:xfrm>
          <a:prstGeom prst="rect">
            <a:avLst/>
          </a:prstGeom>
        </p:spPr>
      </p:pic>
      <p:sp>
        <p:nvSpPr>
          <p:cNvPr id="9" name="Text 5"/>
          <p:cNvSpPr txBox="1"/>
          <p:nvPr/>
        </p:nvSpPr>
        <p:spPr>
          <a:xfrm>
            <a:off x="4754880" y="3719322"/>
            <a:ext cx="3931920" cy="310896"/>
          </a:xfrm>
          <a:prstGeom prst="rect">
            <a:avLst/>
          </a:prstGeom>
          <a:noFill/>
          <a:ln/>
        </p:spPr>
        <p:txBody>
          <a:bodyPr wrap="square" lIns="0" tIns="0" rIns="0" bIns="0" rtlCol="0" anchor="ctr"/>
          <a:lstStyle/>
          <a:p>
            <a:pPr indent="0" marL="0">
              <a:buNone/>
            </a:pPr>
            <a:r>
              <a:rPr lang="en-US" sz="1500" b="1" dirty="0">
                <a:solidFill>
                  <a:schemeClr val="tx1"/>
                </a:solidFill>
              </a:rPr>
              <a:t>For Collaborators</a:t>
            </a:r>
            <a:endParaRPr lang="en-US" sz="1500" dirty="0"/>
          </a:p>
        </p:txBody>
      </p:sp>
      <p:sp>
        <p:nvSpPr>
          <p:cNvPr id="10" name="Text 6"/>
          <p:cNvSpPr txBox="1"/>
          <p:nvPr/>
        </p:nvSpPr>
        <p:spPr>
          <a:xfrm>
            <a:off x="4754880" y="4030218"/>
            <a:ext cx="3931920" cy="274320"/>
          </a:xfrm>
          <a:prstGeom prst="rect">
            <a:avLst/>
          </a:prstGeom>
          <a:noFill/>
          <a:ln/>
        </p:spPr>
        <p:txBody>
          <a:bodyPr wrap="square" lIns="0" tIns="0" rIns="0" bIns="0" rtlCol="0" anchor="ctr"/>
          <a:lstStyle/>
          <a:p>
            <a:pPr indent="0" marL="0">
              <a:buNone/>
            </a:pPr>
            <a:r>
              <a:rPr lang="en-US" sz="1200" dirty="0">
                <a:solidFill>
                  <a:schemeClr val="tx2"/>
                </a:solidFill>
              </a:rPr>
              <a:t>My contribution · Production experience · Creative process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Technology and architecture</a:t>
            </a:r>
            <a:endParaRPr lang="en-US" sz="3000" dirty="0"/>
          </a:p>
        </p:txBody>
      </p:sp>
      <p:sp>
        <p:nvSpPr>
          <p:cNvPr id="3" name="Architecture box"/>
          <p:cNvSpPr/>
          <p:nvPr/>
        </p:nvSpPr>
        <p:spPr>
          <a:xfrm>
            <a:off x="457200" y="1143000"/>
            <a:ext cx="2331720" cy="155448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40080" y="1298448"/>
            <a:ext cx="457200" cy="457200"/>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749808" y="1408176"/>
            <a:ext cx="237744" cy="237744"/>
          </a:xfrm>
          <a:prstGeom prst="rect">
            <a:avLst/>
          </a:prstGeom>
        </p:spPr>
      </p:pic>
      <p:sp>
        <p:nvSpPr>
          <p:cNvPr id="6" name="Text 3"/>
          <p:cNvSpPr txBox="1"/>
          <p:nvPr/>
        </p:nvSpPr>
        <p:spPr>
          <a:xfrm>
            <a:off x="1207008" y="1298448"/>
            <a:ext cx="1508760" cy="457200"/>
          </a:xfrm>
          <a:prstGeom prst="rect">
            <a:avLst/>
          </a:prstGeom>
          <a:noFill/>
          <a:ln/>
        </p:spPr>
        <p:txBody>
          <a:bodyPr wrap="square" lIns="0" tIns="0" rIns="0" bIns="0" rtlCol="0" anchor="ctr"/>
          <a:lstStyle/>
          <a:p>
            <a:pPr indent="0" marL="0">
              <a:buNone/>
            </a:pPr>
            <a:r>
              <a:rPr lang="en-US" sz="1500" b="1" dirty="0">
                <a:solidFill>
                  <a:schemeClr val="tx1"/>
                </a:solidFill>
              </a:rPr>
              <a:t>Browser</a:t>
            </a:r>
            <a:endParaRPr lang="en-US" sz="1500" dirty="0"/>
          </a:p>
        </p:txBody>
      </p:sp>
      <p:sp>
        <p:nvSpPr>
          <p:cNvPr id="7" name="Text 4"/>
          <p:cNvSpPr txBox="1"/>
          <p:nvPr/>
        </p:nvSpPr>
        <p:spPr>
          <a:xfrm>
            <a:off x="640080" y="1874520"/>
            <a:ext cx="2011680" cy="685800"/>
          </a:xfrm>
          <a:prstGeom prst="rect">
            <a:avLst/>
          </a:prstGeom>
          <a:noFill/>
          <a:ln/>
        </p:spPr>
        <p:txBody>
          <a:bodyPr wrap="square" lIns="0" tIns="0" rIns="0" bIns="0" rtlCol="0" anchor="t"/>
          <a:lstStyle/>
          <a:p>
            <a:pPr indent="0" marL="0">
              <a:buNone/>
            </a:pPr>
            <a:r>
              <a:rPr lang="en-US" sz="1200" dirty="0">
                <a:solidFill>
                  <a:schemeClr val="tx2"/>
                </a:solidFill>
              </a:rPr>
              <a:t>Visitors and me (admin)</a:t>
            </a:r>
            <a:endParaRPr lang="en-US" sz="1200" dirty="0"/>
          </a:p>
          <a:p>
            <a:pPr indent="0" marL="0">
              <a:buNone/>
            </a:pPr>
            <a:r>
              <a:rPr lang="en-US" sz="1200" dirty="0">
                <a:solidFill>
                  <a:schemeClr val="accent5"/>
                </a:solidFill>
              </a:rPr>
              <a:t>Phone and laptop, light and dark mode</a:t>
            </a:r>
            <a:endParaRPr lang="en-US" sz="1200" dirty="0"/>
          </a:p>
        </p:txBody>
      </p:sp>
      <p:sp>
        <p:nvSpPr>
          <p:cNvPr id="8" name="Architecture box"/>
          <p:cNvSpPr/>
          <p:nvPr/>
        </p:nvSpPr>
        <p:spPr>
          <a:xfrm>
            <a:off x="3291840" y="1143000"/>
            <a:ext cx="2331720" cy="155448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3474720" y="1298448"/>
            <a:ext cx="457200" cy="457200"/>
          </a:xfrm>
          <a:prstGeom prst="ellipse">
            <a:avLst/>
          </a:prstGeom>
          <a:solidFill>
            <a:schemeClr val="accent2"/>
          </a:solidFill>
          <a:ln/>
        </p:spPr>
      </p:sp>
      <p:pic>
        <p:nvPicPr>
          <p:cNvPr id="10" name="Icon" descr="preencoded.png">    </p:cNvPr>
          <p:cNvPicPr>
            <a:picLocks noChangeAspect="1"/>
          </p:cNvPicPr>
          <p:nvPr/>
        </p:nvPicPr>
        <p:blipFill>
          <a:blip r:embed="rId2"/>
          <a:stretch>
            <a:fillRect/>
          </a:stretch>
        </p:blipFill>
        <p:spPr>
          <a:xfrm>
            <a:off x="3584448" y="1408176"/>
            <a:ext cx="237744" cy="237744"/>
          </a:xfrm>
          <a:prstGeom prst="rect">
            <a:avLst/>
          </a:prstGeom>
        </p:spPr>
      </p:pic>
      <p:sp>
        <p:nvSpPr>
          <p:cNvPr id="11" name="Text 7"/>
          <p:cNvSpPr txBox="1"/>
          <p:nvPr/>
        </p:nvSpPr>
        <p:spPr>
          <a:xfrm>
            <a:off x="4041648" y="1298448"/>
            <a:ext cx="1508760" cy="457200"/>
          </a:xfrm>
          <a:prstGeom prst="rect">
            <a:avLst/>
          </a:prstGeom>
          <a:noFill/>
          <a:ln/>
        </p:spPr>
        <p:txBody>
          <a:bodyPr wrap="square" lIns="0" tIns="0" rIns="0" bIns="0" rtlCol="0" anchor="ctr"/>
          <a:lstStyle/>
          <a:p>
            <a:pPr indent="0" marL="0">
              <a:buNone/>
            </a:pPr>
            <a:r>
              <a:rPr lang="en-US" sz="1500" b="1" dirty="0">
                <a:solidFill>
                  <a:schemeClr val="tx1"/>
                </a:solidFill>
              </a:rPr>
              <a:t>Next.js on Vercel</a:t>
            </a:r>
            <a:endParaRPr lang="en-US" sz="1500" dirty="0"/>
          </a:p>
        </p:txBody>
      </p:sp>
      <p:sp>
        <p:nvSpPr>
          <p:cNvPr id="12" name="Text 8"/>
          <p:cNvSpPr txBox="1"/>
          <p:nvPr/>
        </p:nvSpPr>
        <p:spPr>
          <a:xfrm>
            <a:off x="3474720" y="1874520"/>
            <a:ext cx="2011680" cy="685800"/>
          </a:xfrm>
          <a:prstGeom prst="rect">
            <a:avLst/>
          </a:prstGeom>
          <a:noFill/>
          <a:ln/>
        </p:spPr>
        <p:txBody>
          <a:bodyPr wrap="square" lIns="0" tIns="0" rIns="0" bIns="0" rtlCol="0" anchor="t"/>
          <a:lstStyle/>
          <a:p>
            <a:pPr indent="0" marL="0">
              <a:buNone/>
            </a:pPr>
            <a:r>
              <a:rPr lang="en-US" sz="1200" dirty="0">
                <a:solidFill>
                  <a:schemeClr val="tx2"/>
                </a:solidFill>
              </a:rPr>
              <a:t>Pages, forms, admin actions</a:t>
            </a:r>
            <a:endParaRPr lang="en-US" sz="1200" dirty="0"/>
          </a:p>
          <a:p>
            <a:pPr indent="0" marL="0">
              <a:buNone/>
            </a:pPr>
            <a:r>
              <a:rPr lang="en-US" sz="1200" dirty="0">
                <a:solidFill>
                  <a:schemeClr val="accent5"/>
                </a:solidFill>
              </a:rPr>
              <a:t>TypeScript · Tailwind CSS</a:t>
            </a:r>
            <a:endParaRPr lang="en-US" sz="1200" dirty="0"/>
          </a:p>
        </p:txBody>
      </p:sp>
      <p:sp>
        <p:nvSpPr>
          <p:cNvPr id="13" name="Architecture box"/>
          <p:cNvSpPr/>
          <p:nvPr/>
        </p:nvSpPr>
        <p:spPr>
          <a:xfrm>
            <a:off x="6355080" y="1143000"/>
            <a:ext cx="2331720" cy="155448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537960" y="1298448"/>
            <a:ext cx="457200" cy="457200"/>
          </a:xfrm>
          <a:prstGeom prst="ellipse">
            <a:avLst/>
          </a:prstGeom>
          <a:solidFill>
            <a:schemeClr val="accent2"/>
          </a:solidFill>
          <a:ln/>
        </p:spPr>
      </p:sp>
      <p:pic>
        <p:nvPicPr>
          <p:cNvPr id="15" name="Icon" descr="preencoded.png">    </p:cNvPr>
          <p:cNvPicPr>
            <a:picLocks noChangeAspect="1"/>
          </p:cNvPicPr>
          <p:nvPr/>
        </p:nvPicPr>
        <p:blipFill>
          <a:blip r:embed="rId3"/>
          <a:stretch>
            <a:fillRect/>
          </a:stretch>
        </p:blipFill>
        <p:spPr>
          <a:xfrm>
            <a:off x="6647688" y="1408176"/>
            <a:ext cx="237744" cy="237744"/>
          </a:xfrm>
          <a:prstGeom prst="rect">
            <a:avLst/>
          </a:prstGeom>
        </p:spPr>
      </p:pic>
      <p:sp>
        <p:nvSpPr>
          <p:cNvPr id="16" name="Text 11"/>
          <p:cNvSpPr txBox="1"/>
          <p:nvPr/>
        </p:nvSpPr>
        <p:spPr>
          <a:xfrm>
            <a:off x="7104888" y="1298448"/>
            <a:ext cx="1508760" cy="457200"/>
          </a:xfrm>
          <a:prstGeom prst="rect">
            <a:avLst/>
          </a:prstGeom>
          <a:noFill/>
          <a:ln/>
        </p:spPr>
        <p:txBody>
          <a:bodyPr wrap="square" lIns="0" tIns="0" rIns="0" bIns="0" rtlCol="0" anchor="ctr"/>
          <a:lstStyle/>
          <a:p>
            <a:pPr indent="0" marL="0">
              <a:buNone/>
            </a:pPr>
            <a:r>
              <a:rPr lang="en-US" sz="1500" b="1" dirty="0">
                <a:solidFill>
                  <a:schemeClr val="tx1"/>
                </a:solidFill>
              </a:rPr>
              <a:t>Supabase</a:t>
            </a:r>
            <a:endParaRPr lang="en-US" sz="1500" dirty="0"/>
          </a:p>
        </p:txBody>
      </p:sp>
      <p:sp>
        <p:nvSpPr>
          <p:cNvPr id="17" name="Text 12"/>
          <p:cNvSpPr txBox="1"/>
          <p:nvPr/>
        </p:nvSpPr>
        <p:spPr>
          <a:xfrm>
            <a:off x="6537960" y="1874520"/>
            <a:ext cx="2011680" cy="685800"/>
          </a:xfrm>
          <a:prstGeom prst="rect">
            <a:avLst/>
          </a:prstGeom>
          <a:noFill/>
          <a:ln/>
        </p:spPr>
        <p:txBody>
          <a:bodyPr wrap="square" lIns="0" tIns="0" rIns="0" bIns="0" rtlCol="0" anchor="t"/>
          <a:lstStyle/>
          <a:p>
            <a:pPr indent="0" marL="0">
              <a:buNone/>
            </a:pPr>
            <a:r>
              <a:rPr lang="en-US" sz="1200" dirty="0">
                <a:solidFill>
                  <a:schemeClr val="tx2"/>
                </a:solidFill>
              </a:rPr>
              <a:t>Postgres database + Auth</a:t>
            </a:r>
            <a:endParaRPr lang="en-US" sz="1200" dirty="0"/>
          </a:p>
          <a:p>
            <a:pPr indent="0" marL="0">
              <a:buNone/>
            </a:pPr>
            <a:r>
              <a:rPr lang="en-US" sz="1200" dirty="0">
                <a:solidFill>
                  <a:schemeClr val="accent5"/>
                </a:solidFill>
              </a:rPr>
              <a:t>Projects · contact messages</a:t>
            </a:r>
            <a:endParaRPr lang="en-US" sz="1200" dirty="0"/>
          </a:p>
        </p:txBody>
      </p:sp>
      <p:sp>
        <p:nvSpPr>
          <p:cNvPr id="18" name="Connector"/>
          <p:cNvSpPr/>
          <p:nvPr/>
        </p:nvSpPr>
        <p:spPr>
          <a:xfrm>
            <a:off x="2834640" y="1920240"/>
            <a:ext cx="411480" cy="0"/>
          </a:xfrm>
          <a:prstGeom prst="line">
            <a:avLst/>
          </a:prstGeom>
          <a:noFill/>
          <a:ln w="19050">
            <a:solidFill>
              <a:schemeClr val="accent5"/>
            </a:solidFill>
            <a:prstDash val="solid"/>
            <a:headEnd type="triangle"/>
            <a:tailEnd type="triangle"/>
          </a:ln>
        </p:spPr>
      </p:sp>
      <p:sp>
        <p:nvSpPr>
          <p:cNvPr id="19" name="Connector"/>
          <p:cNvSpPr/>
          <p:nvPr/>
        </p:nvSpPr>
        <p:spPr>
          <a:xfrm>
            <a:off x="5669280" y="1920240"/>
            <a:ext cx="640080" cy="0"/>
          </a:xfrm>
          <a:prstGeom prst="line">
            <a:avLst/>
          </a:prstGeom>
          <a:noFill/>
          <a:ln w="19050">
            <a:solidFill>
              <a:schemeClr val="accent5"/>
            </a:solidFill>
            <a:prstDash val="solid"/>
            <a:headEnd type="triangle"/>
            <a:tailEnd type="triangle"/>
          </a:ln>
        </p:spPr>
      </p:sp>
      <p:sp>
        <p:nvSpPr>
          <p:cNvPr id="20" name="GitHub box"/>
          <p:cNvSpPr/>
          <p:nvPr/>
        </p:nvSpPr>
        <p:spPr>
          <a:xfrm>
            <a:off x="3291840" y="3246120"/>
            <a:ext cx="2331720" cy="777240"/>
          </a:xfrm>
          <a:prstGeom prst="roundRect">
            <a:avLst>
              <a:gd name="adj" fmla="val 9412"/>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3474720" y="3401568"/>
            <a:ext cx="457200" cy="457200"/>
          </a:xfrm>
          <a:prstGeom prst="ellipse">
            <a:avLst/>
          </a:prstGeom>
          <a:solidFill>
            <a:schemeClr val="accent2"/>
          </a:solidFill>
          <a:ln/>
        </p:spPr>
      </p:sp>
      <p:pic>
        <p:nvPicPr>
          <p:cNvPr id="22" name="Icon" descr="preencoded.png">    </p:cNvPr>
          <p:cNvPicPr>
            <a:picLocks noChangeAspect="1"/>
          </p:cNvPicPr>
          <p:nvPr/>
        </p:nvPicPr>
        <p:blipFill>
          <a:blip r:embed="rId4"/>
          <a:stretch>
            <a:fillRect/>
          </a:stretch>
        </p:blipFill>
        <p:spPr>
          <a:xfrm>
            <a:off x="3584448" y="3511296"/>
            <a:ext cx="237744" cy="237744"/>
          </a:xfrm>
          <a:prstGeom prst="rect">
            <a:avLst/>
          </a:prstGeom>
        </p:spPr>
      </p:pic>
      <p:sp>
        <p:nvSpPr>
          <p:cNvPr id="23" name="Text 17"/>
          <p:cNvSpPr txBox="1"/>
          <p:nvPr/>
        </p:nvSpPr>
        <p:spPr>
          <a:xfrm>
            <a:off x="4041648" y="3291840"/>
            <a:ext cx="1554480" cy="685800"/>
          </a:xfrm>
          <a:prstGeom prst="rect">
            <a:avLst/>
          </a:prstGeom>
          <a:noFill/>
          <a:ln/>
        </p:spPr>
        <p:txBody>
          <a:bodyPr wrap="square" lIns="0" tIns="0" rIns="0" bIns="0" rtlCol="0" anchor="ctr"/>
          <a:lstStyle/>
          <a:p>
            <a:pPr indent="0" marL="0">
              <a:buNone/>
            </a:pPr>
            <a:r>
              <a:rPr lang="en-US" sz="1400" b="1" dirty="0">
                <a:solidFill>
                  <a:schemeClr val="tx1"/>
                </a:solidFill>
              </a:rPr>
              <a:t>GitHub</a:t>
            </a:r>
            <a:endParaRPr lang="en-US" sz="1400" dirty="0"/>
          </a:p>
          <a:p>
            <a:pPr indent="0" marL="0">
              <a:buNone/>
            </a:pPr>
            <a:r>
              <a:rPr lang="en-US" sz="1100" dirty="0">
                <a:solidFill>
                  <a:schemeClr val="tx2"/>
                </a:solidFill>
              </a:rPr>
              <a:t>Push → auto-deploy</a:t>
            </a:r>
            <a:endParaRPr lang="en-US" sz="1400" dirty="0"/>
          </a:p>
        </p:txBody>
      </p:sp>
      <p:sp>
        <p:nvSpPr>
          <p:cNvPr id="24" name="Deploy arrow"/>
          <p:cNvSpPr/>
          <p:nvPr/>
        </p:nvSpPr>
        <p:spPr>
          <a:xfrm>
            <a:off x="4457700" y="2743200"/>
            <a:ext cx="0" cy="457200"/>
          </a:xfrm>
          <a:prstGeom prst="line">
            <a:avLst/>
          </a:prstGeom>
          <a:noFill/>
          <a:ln w="19050">
            <a:solidFill>
              <a:schemeClr val="accent5"/>
            </a:solidFill>
            <a:prstDash val="solid"/>
            <a:headEnd type="triangle"/>
          </a:ln>
        </p:spPr>
      </p:sp>
      <p:sp>
        <p:nvSpPr>
          <p:cNvPr id="25" name="Text 19"/>
          <p:cNvSpPr txBox="1"/>
          <p:nvPr/>
        </p:nvSpPr>
        <p:spPr>
          <a:xfrm>
            <a:off x="6355080" y="3246120"/>
            <a:ext cx="2331720" cy="1188720"/>
          </a:xfrm>
          <a:prstGeom prst="rect">
            <a:avLst/>
          </a:prstGeom>
          <a:noFill/>
          <a:ln/>
        </p:spPr>
        <p:txBody>
          <a:bodyPr wrap="square" lIns="0" tIns="0" rIns="0" bIns="0" rtlCol="0" anchor="t"/>
          <a:lstStyle/>
          <a:p>
            <a:pPr indent="0" marL="0">
              <a:buNone/>
            </a:pPr>
            <a:r>
              <a:rPr lang="en-US" sz="1100" b="1" dirty="0">
                <a:solidFill>
                  <a:schemeClr val="tx1"/>
                </a:solidFill>
              </a:rPr>
              <a:t>Security: </a:t>
            </a:r>
            <a:pPr indent="0" marL="0">
              <a:buNone/>
            </a:pPr>
            <a:r>
              <a:rPr lang="en-US" sz="1100" dirty="0">
                <a:solidFill>
                  <a:schemeClr val="tx2"/>
                </a:solidFill>
              </a:rPr>
              <a:t>database rules (RLS) let visitors read projects and send messages; only the single admin account can change data.</a:t>
            </a:r>
            <a:endParaRPr lang="en-US" sz="1100" dirty="0"/>
          </a:p>
        </p:txBody>
      </p:sp>
      <p:sp>
        <p:nvSpPr>
          <p:cNvPr id="26" name="Text 20"/>
          <p:cNvSpPr txBox="1"/>
          <p:nvPr/>
        </p:nvSpPr>
        <p:spPr>
          <a:xfrm>
            <a:off x="457200" y="3246120"/>
            <a:ext cx="2331720" cy="1188720"/>
          </a:xfrm>
          <a:prstGeom prst="rect">
            <a:avLst/>
          </a:prstGeom>
          <a:noFill/>
          <a:ln/>
        </p:spPr>
        <p:txBody>
          <a:bodyPr wrap="square" lIns="0" tIns="0" rIns="0" bIns="0" rtlCol="0" anchor="t"/>
          <a:lstStyle/>
          <a:p>
            <a:pPr indent="0" marL="0">
              <a:buNone/>
            </a:pPr>
            <a:r>
              <a:rPr lang="en-US" sz="1100" b="1" dirty="0">
                <a:solidFill>
                  <a:schemeClr val="tx1"/>
                </a:solidFill>
              </a:rPr>
              <a:t>Always fresh: </a:t>
            </a:r>
            <a:pPr indent="0" marL="0">
              <a:buNone/>
            </a:pPr>
            <a:r>
              <a:rPr lang="en-US" sz="1100" dirty="0">
                <a:solidFill>
                  <a:schemeClr val="tx2"/>
                </a:solidFill>
              </a:rPr>
              <a:t>pages read the database on every visit, so admin edits appear without redeploying.</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Development schedule</a:t>
            </a:r>
            <a:endParaRPr lang="en-US" sz="3000" dirty="0"/>
          </a:p>
        </p:txBody>
      </p:sp>
      <p:graphicFrame>
        <p:nvGraphicFramePr>
          <p:cNvPr id="9" name="Schedule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463040"/>
                <a:gridCol w="5577840"/>
                <a:gridCol w="1188720"/>
              </a:tblGrid>
              <a:tr h="338328">
                <a:tc>
                  <a:txBody>
                    <a:bodyPr/>
                    <a:lstStyle/>
                    <a:p>
                      <a:pPr indent="0" marL="0">
                        <a:buNone/>
                      </a:pPr>
                      <a:r>
                        <a:rPr lang="en-US" sz="1100" b="1" dirty="0">
                          <a:solidFill>
                            <a:schemeClr val="bg1"/>
                          </a:solidFill>
                        </a:rPr>
                        <a:t>When</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Milestone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Status</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r>
              <a:tr h="338328">
                <a:tc>
                  <a:txBody>
                    <a:bodyPr/>
                    <a:lstStyle/>
                    <a:p>
                      <a:pPr indent="0" marL="0">
                        <a:buNone/>
                      </a:pPr>
                      <a:r>
                        <a:rPr lang="en-US" sz="1100" b="1" dirty="0">
                          <a:solidFill>
                            <a:schemeClr val="tx1"/>
                          </a:solidFill>
                        </a:rPr>
                        <a:t>Sep 29</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Phase 1: Next.js + Tailwind setup, Supabase database design</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Done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Oct 6</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Phase 2: all screens built with sample data</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3"/>
                          </a:solidFill>
                        </a:rPr>
                        <a:t>Done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Oct 6</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Phase 3: Supabase connected, admin login and dashboard</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Done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Oct 6</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Redesign: purpose flow and purpose-based detail pages</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3"/>
                          </a:solidFill>
                        </a:rPr>
                        <a:t>Done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Oct 20</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Midterm presentation; admin account and database update live</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4"/>
                          </a:solidFill>
                        </a:rPr>
                        <a:t>This week</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Oct 27 – Nov 9</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Real content: projects, videos, photos, bio, CV</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Planned</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Nov 10 – Nov 23</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Polish: link previews, loading states, accessibility</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Planned</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338328">
                <a:tc>
                  <a:txBody>
                    <a:bodyPr/>
                    <a:lstStyle/>
                    <a:p>
                      <a:pPr indent="0" marL="0">
                        <a:buNone/>
                      </a:pPr>
                      <a:r>
                        <a:rPr lang="en-US" sz="1100" b="1" dirty="0">
                          <a:solidFill>
                            <a:schemeClr val="tx1"/>
                          </a:solidFill>
                        </a:rPr>
                        <a:t>Nov 24 – Dec 7</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User testing with 5 people, then fixes</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Planned</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338328">
                <a:tc>
                  <a:txBody>
                    <a:bodyPr/>
                    <a:lstStyle/>
                    <a:p>
                      <a:pPr indent="0" marL="0">
                        <a:buNone/>
                      </a:pPr>
                      <a:r>
                        <a:rPr lang="en-US" sz="1100" b="1" dirty="0">
                          <a:solidFill>
                            <a:schemeClr val="tx1"/>
                          </a:solidFill>
                        </a:rPr>
                        <a:t>Dec 8 – Dec 21</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Final checks, final report and live demo</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Planned</a:t>
                      </a:r>
                      <a:endParaRPr lang="en-US" sz="1100" dirty="0"/>
                    </a:p>
                  </a:txBody>
                  <a:tcPr marL="91440" marR="91440"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How I use generative AI</a:t>
            </a:r>
            <a:endParaRPr lang="en-US" sz="3000" dirty="0"/>
          </a:p>
        </p:txBody>
      </p:sp>
      <p:sp>
        <p:nvSpPr>
          <p:cNvPr id="3" name="Role card"/>
          <p:cNvSpPr/>
          <p:nvPr/>
        </p:nvSpPr>
        <p:spPr>
          <a:xfrm>
            <a:off x="457200" y="1097280"/>
            <a:ext cx="3931920" cy="155448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40080" y="1280160"/>
            <a:ext cx="457200" cy="457200"/>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749808" y="1389888"/>
            <a:ext cx="237744" cy="237744"/>
          </a:xfrm>
          <a:prstGeom prst="rect">
            <a:avLst/>
          </a:prstGeom>
        </p:spPr>
      </p:pic>
      <p:sp>
        <p:nvSpPr>
          <p:cNvPr id="6" name="Text 3"/>
          <p:cNvSpPr txBox="1"/>
          <p:nvPr/>
        </p:nvSpPr>
        <p:spPr>
          <a:xfrm>
            <a:off x="1207008" y="1280160"/>
            <a:ext cx="3063240" cy="457200"/>
          </a:xfrm>
          <a:prstGeom prst="rect">
            <a:avLst/>
          </a:prstGeom>
          <a:noFill/>
          <a:ln/>
        </p:spPr>
        <p:txBody>
          <a:bodyPr wrap="square" lIns="0" tIns="0" rIns="0" bIns="0" rtlCol="0" anchor="ctr"/>
          <a:lstStyle/>
          <a:p>
            <a:pPr indent="0" marL="0">
              <a:buNone/>
            </a:pPr>
            <a:r>
              <a:rPr lang="en-US" sz="1500" b="1" dirty="0">
                <a:solidFill>
                  <a:schemeClr val="tx1"/>
                </a:solidFill>
              </a:rPr>
              <a:t>Me: product owner</a:t>
            </a:r>
            <a:endParaRPr lang="en-US" sz="1500" dirty="0"/>
          </a:p>
        </p:txBody>
      </p:sp>
      <p:sp>
        <p:nvSpPr>
          <p:cNvPr id="7" name="Text 4"/>
          <p:cNvSpPr txBox="1"/>
          <p:nvPr/>
        </p:nvSpPr>
        <p:spPr>
          <a:xfrm>
            <a:off x="640080" y="1828800"/>
            <a:ext cx="3657600" cy="7772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Define scope, rules and design mockups</a:t>
            </a:r>
            <a:endParaRPr lang="en-US" sz="1200" dirty="0"/>
          </a:p>
          <a:p>
            <a:pPr marL="342900" indent="-342900">
              <a:spcAft>
                <a:spcPts val="200"/>
              </a:spcAft>
              <a:buSzPct val="100000"/>
              <a:buChar char="•"/>
            </a:pPr>
            <a:r>
              <a:rPr lang="en-US" sz="1200" dirty="0">
                <a:solidFill>
                  <a:schemeClr val="tx2"/>
                </a:solidFill>
              </a:rPr>
              <a:t>Make every product decision</a:t>
            </a:r>
            <a:endParaRPr lang="en-US" sz="1200" dirty="0"/>
          </a:p>
          <a:p>
            <a:pPr marL="342900" indent="-342900">
              <a:spcAft>
                <a:spcPts val="200"/>
              </a:spcAft>
              <a:buSzPct val="100000"/>
              <a:buChar char="•"/>
            </a:pPr>
            <a:r>
              <a:rPr lang="en-US" sz="1200" dirty="0">
                <a:solidFill>
                  <a:schemeClr val="tx2"/>
                </a:solidFill>
              </a:rPr>
              <a:t>Test each step on the live site</a:t>
            </a:r>
            <a:endParaRPr lang="en-US" sz="1200" dirty="0"/>
          </a:p>
        </p:txBody>
      </p:sp>
      <p:sp>
        <p:nvSpPr>
          <p:cNvPr id="8" name="Role card"/>
          <p:cNvSpPr/>
          <p:nvPr/>
        </p:nvSpPr>
        <p:spPr>
          <a:xfrm>
            <a:off x="457200" y="2816352"/>
            <a:ext cx="3931920" cy="155448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640080" y="2999232"/>
            <a:ext cx="457200" cy="457200"/>
          </a:xfrm>
          <a:prstGeom prst="ellipse">
            <a:avLst/>
          </a:prstGeom>
          <a:solidFill>
            <a:schemeClr val="accent2"/>
          </a:solidFill>
          <a:ln/>
        </p:spPr>
      </p:sp>
      <p:pic>
        <p:nvPicPr>
          <p:cNvPr id="10" name="Icon" descr="preencoded.png">    </p:cNvPr>
          <p:cNvPicPr>
            <a:picLocks noChangeAspect="1"/>
          </p:cNvPicPr>
          <p:nvPr/>
        </p:nvPicPr>
        <p:blipFill>
          <a:blip r:embed="rId2"/>
          <a:stretch>
            <a:fillRect/>
          </a:stretch>
        </p:blipFill>
        <p:spPr>
          <a:xfrm>
            <a:off x="749808" y="3108960"/>
            <a:ext cx="237744" cy="237744"/>
          </a:xfrm>
          <a:prstGeom prst="rect">
            <a:avLst/>
          </a:prstGeom>
        </p:spPr>
      </p:pic>
      <p:sp>
        <p:nvSpPr>
          <p:cNvPr id="11" name="Text 7"/>
          <p:cNvSpPr txBox="1"/>
          <p:nvPr/>
        </p:nvSpPr>
        <p:spPr>
          <a:xfrm>
            <a:off x="1207008" y="2999232"/>
            <a:ext cx="3063240" cy="457200"/>
          </a:xfrm>
          <a:prstGeom prst="rect">
            <a:avLst/>
          </a:prstGeom>
          <a:noFill/>
          <a:ln/>
        </p:spPr>
        <p:txBody>
          <a:bodyPr wrap="square" lIns="0" tIns="0" rIns="0" bIns="0" rtlCol="0" anchor="ctr"/>
          <a:lstStyle/>
          <a:p>
            <a:pPr indent="0" marL="0">
              <a:buNone/>
            </a:pPr>
            <a:r>
              <a:rPr lang="en-US" sz="1500" b="1" dirty="0">
                <a:solidFill>
                  <a:schemeClr val="tx1"/>
                </a:solidFill>
              </a:rPr>
              <a:t>AI: Claude Code (coding agent)</a:t>
            </a:r>
            <a:endParaRPr lang="en-US" sz="1500" dirty="0"/>
          </a:p>
        </p:txBody>
      </p:sp>
      <p:sp>
        <p:nvSpPr>
          <p:cNvPr id="12" name="Text 8"/>
          <p:cNvSpPr txBox="1"/>
          <p:nvPr/>
        </p:nvSpPr>
        <p:spPr>
          <a:xfrm>
            <a:off x="640080" y="3547872"/>
            <a:ext cx="3657600" cy="7772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Write, run and test the code</a:t>
            </a:r>
            <a:endParaRPr lang="en-US" sz="1200" dirty="0"/>
          </a:p>
          <a:p>
            <a:pPr marL="342900" indent="-342900">
              <a:spcAft>
                <a:spcPts val="200"/>
              </a:spcAft>
              <a:buSzPct val="100000"/>
              <a:buChar char="•"/>
            </a:pPr>
            <a:r>
              <a:rPr lang="en-US" sz="1200" dirty="0">
                <a:solidFill>
                  <a:schemeClr val="tx2"/>
                </a:solidFill>
              </a:rPr>
              <a:t>Explain each step in plain language</a:t>
            </a:r>
            <a:endParaRPr lang="en-US" sz="1200" dirty="0"/>
          </a:p>
          <a:p>
            <a:pPr marL="342900" indent="-342900">
              <a:spcAft>
                <a:spcPts val="200"/>
              </a:spcAft>
              <a:buSzPct val="100000"/>
              <a:buChar char="•"/>
            </a:pPr>
            <a:r>
              <a:rPr lang="en-US" sz="1200" dirty="0">
                <a:solidFill>
                  <a:schemeClr val="tx2"/>
                </a:solidFill>
              </a:rPr>
              <a:t>Ask before big decisions; commit to GitHub</a:t>
            </a:r>
            <a:endParaRPr lang="en-US" sz="1200" dirty="0"/>
          </a:p>
        </p:txBody>
      </p:sp>
      <p:sp>
        <p:nvSpPr>
          <p:cNvPr id="13" name="Spec panel"/>
          <p:cNvSpPr/>
          <p:nvPr/>
        </p:nvSpPr>
        <p:spPr>
          <a:xfrm>
            <a:off x="4663440" y="1097280"/>
            <a:ext cx="4023360" cy="3273552"/>
          </a:xfrm>
          <a:prstGeom prst="roundRect">
            <a:avLst>
              <a:gd name="adj" fmla="val 2235"/>
            </a:avLst>
          </a:prstGeom>
          <a:solidFill>
            <a:schemeClr val="tx1"/>
          </a:solidFill>
          <a:ln/>
        </p:spPr>
      </p:sp>
      <p:sp>
        <p:nvSpPr>
          <p:cNvPr id="14" name="Text 10"/>
          <p:cNvSpPr txBox="1"/>
          <p:nvPr/>
        </p:nvSpPr>
        <p:spPr>
          <a:xfrm>
            <a:off x="4846320" y="1207008"/>
            <a:ext cx="3657600" cy="320040"/>
          </a:xfrm>
          <a:prstGeom prst="rect">
            <a:avLst/>
          </a:prstGeom>
          <a:noFill/>
          <a:ln/>
        </p:spPr>
        <p:txBody>
          <a:bodyPr wrap="square" lIns="0" tIns="0" rIns="0" bIns="0" rtlCol="0" anchor="ctr"/>
          <a:lstStyle/>
          <a:p>
            <a:pPr indent="0" marL="0">
              <a:buNone/>
            </a:pPr>
            <a:r>
              <a:rPr lang="en-US" sz="1200" b="1" dirty="0">
                <a:solidFill>
                  <a:schemeClr val="accent1"/>
                </a:solidFill>
              </a:rPr>
              <a:t>CLAUDE.md: persistent project spec</a:t>
            </a:r>
            <a:endParaRPr lang="en-US" sz="1200" dirty="0"/>
          </a:p>
        </p:txBody>
      </p:sp>
      <p:sp>
        <p:nvSpPr>
          <p:cNvPr id="15" name="Text 11"/>
          <p:cNvSpPr txBox="1"/>
          <p:nvPr/>
        </p:nvSpPr>
        <p:spPr>
          <a:xfrm>
            <a:off x="4846320" y="1572768"/>
            <a:ext cx="3703320" cy="269748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 Working rules</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Owner is new to web dev. Explain</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steps in plain language.</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Build one screen/feature at a time;</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after each, give steps to verify.</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Check in before big structural</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decisions.</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Do not build anything outside scope.</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Excluded: AI recommendations, visitor</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accounts, payment, chat, analytics,</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file uploads, multi-language.</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Privacy: store only schema fields;</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  no visitor tracking.</a:t>
            </a:r>
            <a:endParaRPr lang="en-US" sz="1000" dirty="0"/>
          </a:p>
        </p:txBody>
      </p:sp>
      <p:sp>
        <p:nvSpPr>
          <p:cNvPr id="16" name="Text 12"/>
          <p:cNvSpPr txBox="1"/>
          <p:nvPr/>
        </p:nvSpPr>
        <p:spPr>
          <a:xfrm>
            <a:off x="4663440" y="4434840"/>
            <a:ext cx="4023360" cy="292608"/>
          </a:xfrm>
          <a:prstGeom prst="rect">
            <a:avLst/>
          </a:prstGeom>
          <a:noFill/>
          <a:ln/>
        </p:spPr>
        <p:txBody>
          <a:bodyPr wrap="square" lIns="0" tIns="0" rIns="0" bIns="0" rtlCol="0" anchor="ctr"/>
          <a:lstStyle/>
          <a:p>
            <a:pPr indent="0" marL="0">
              <a:buNone/>
            </a:pPr>
            <a:r>
              <a:rPr lang="en-US" sz="1000" i="1" dirty="0">
                <a:solidFill>
                  <a:schemeClr val="accent5"/>
                </a:solidFill>
              </a:rPr>
              <a:t>Read by the AI at the start of every session, so it works like a system prompt for the whole project.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Prompt specifications by stage</a:t>
            </a:r>
            <a:endParaRPr lang="en-US" sz="3000" dirty="0"/>
          </a:p>
        </p:txBody>
      </p:sp>
      <p:graphicFrame>
        <p:nvGraphicFramePr>
          <p:cNvPr id="11" name="Prompt log"/>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960120"/>
                <a:gridCol w="5074920"/>
                <a:gridCol w="2194560"/>
              </a:tblGrid>
              <a:tr h="310896">
                <a:tc>
                  <a:txBody>
                    <a:bodyPr/>
                    <a:lstStyle/>
                    <a:p>
                      <a:pPr indent="0" marL="0">
                        <a:buNone/>
                      </a:pPr>
                      <a:r>
                        <a:rPr lang="en-US" sz="1100" b="1" dirty="0">
                          <a:solidFill>
                            <a:schemeClr val="bg1"/>
                          </a:solidFill>
                        </a:rPr>
                        <a:t>Stage</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My prompt (summarised, translated from Indonesian)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Result</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Recovery</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Bring the Phase 1 history from my old GitHub account into this repo and check that it builds.</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3"/>
                          </a:solidFill>
                        </a:rPr>
                        <a:t>History restored; build passes</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Phase 2</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Continue Phase 2: Home screen with dummy data. (Repeated for each screen.)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3"/>
                          </a:solidFill>
                        </a:rPr>
                        <a:t>5 screens with sample data</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Phase 3</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Connect to Supabase. (I provided the Project URL and publishable key.)</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3"/>
                          </a:solidFill>
                        </a:rPr>
                        <a:t>Live data; contact saved</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Admin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Build Admin Login + Dashboard: add/edit/delete, featured toggle, read messages.</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3"/>
                          </a:solidFill>
                        </a:rPr>
                        <a:t>Admin built and tested</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Redesign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 want it like this, with “What brings you here?”. (5 mockup figures attached.)</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3"/>
                          </a:solidFill>
                        </a:rPr>
                        <a:t>Purpose flow + detail panels</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rPr>
                        <a:t>Refine</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No “Show Projects” click: tapping a type should open the projects directly.</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3"/>
                          </a:solidFill>
                        </a:rPr>
                        <a:t>One-tap category page</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Style</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Restyle About and Contact to match the new warm design.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c>
                  <a:txBody>
                    <a:bodyPr/>
                    <a:lstStyle/>
                    <a:p>
                      <a:pPr indent="0" marL="0">
                        <a:buNone/>
                      </a:pPr>
                      <a:r>
                        <a:rPr lang="en-US" sz="1100" dirty="0">
                          <a:solidFill>
                            <a:schemeClr val="accent3"/>
                          </a:solidFill>
                        </a:rPr>
                        <a:t>Consistent card design</a:t>
                      </a:r>
                      <a:endParaRPr lang="en-US" sz="1100" dirty="0"/>
                    </a:p>
                  </a:txBody>
                  <a:tcPr marL="73152" marR="73152" marT="0" marB="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Prompt structure and human decisions</a:t>
            </a:r>
            <a:endParaRPr lang="en-US" sz="3000" dirty="0"/>
          </a:p>
        </p:txBody>
      </p:sp>
      <p:sp>
        <p:nvSpPr>
          <p:cNvPr id="3" name="Template card"/>
          <p:cNvSpPr/>
          <p:nvPr/>
        </p:nvSpPr>
        <p:spPr>
          <a:xfrm>
            <a:off x="457200" y="1097280"/>
            <a:ext cx="3931920" cy="3383280"/>
          </a:xfrm>
          <a:prstGeom prst="roundRect">
            <a:avLst>
              <a:gd name="adj" fmla="val 2162"/>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216152"/>
            <a:ext cx="3566160" cy="320040"/>
          </a:xfrm>
          <a:prstGeom prst="rect">
            <a:avLst/>
          </a:prstGeom>
          <a:noFill/>
          <a:ln/>
        </p:spPr>
        <p:txBody>
          <a:bodyPr wrap="square" lIns="0" tIns="0" rIns="0" bIns="0" rtlCol="0" anchor="ctr"/>
          <a:lstStyle/>
          <a:p>
            <a:pPr indent="0" marL="0">
              <a:buNone/>
            </a:pPr>
            <a:r>
              <a:rPr lang="en-US" sz="1500" b="1" dirty="0">
                <a:solidFill>
                  <a:schemeClr val="tx1"/>
                </a:solidFill>
              </a:rPr>
              <a:t>Every request includes</a:t>
            </a:r>
            <a:endParaRPr lang="en-US" sz="1500" dirty="0"/>
          </a:p>
        </p:txBody>
      </p:sp>
      <p:sp>
        <p:nvSpPr>
          <p:cNvPr id="5" name="Tag"/>
          <p:cNvSpPr/>
          <p:nvPr/>
        </p:nvSpPr>
        <p:spPr>
          <a:xfrm>
            <a:off x="640080" y="1664208"/>
            <a:ext cx="1051560" cy="310896"/>
          </a:xfrm>
          <a:prstGeom prst="roundRect">
            <a:avLst>
              <a:gd name="adj" fmla="val 17647"/>
            </a:avLst>
          </a:prstGeom>
          <a:solidFill>
            <a:schemeClr val="accent2"/>
          </a:solidFill>
          <a:ln/>
        </p:spPr>
      </p:sp>
      <p:sp>
        <p:nvSpPr>
          <p:cNvPr id="6" name="Text 4"/>
          <p:cNvSpPr txBox="1"/>
          <p:nvPr/>
        </p:nvSpPr>
        <p:spPr>
          <a:xfrm>
            <a:off x="640080" y="1664208"/>
            <a:ext cx="1051560" cy="310896"/>
          </a:xfrm>
          <a:prstGeom prst="rect">
            <a:avLst/>
          </a:prstGeom>
          <a:noFill/>
          <a:ln/>
        </p:spPr>
        <p:txBody>
          <a:bodyPr wrap="square" lIns="0" tIns="0" rIns="0" bIns="0" rtlCol="0" anchor="ctr"/>
          <a:lstStyle/>
          <a:p>
            <a:pPr algn="ctr" indent="0" marL="0">
              <a:buNone/>
            </a:pPr>
            <a:r>
              <a:rPr lang="en-US" sz="1100" b="1" dirty="0">
                <a:solidFill>
                  <a:schemeClr val="accent1"/>
                </a:solidFill>
              </a:rPr>
              <a:t>Context</a:t>
            </a:r>
            <a:endParaRPr lang="en-US" sz="1100" dirty="0"/>
          </a:p>
        </p:txBody>
      </p:sp>
      <p:sp>
        <p:nvSpPr>
          <p:cNvPr id="7" name="Text 5"/>
          <p:cNvSpPr txBox="1"/>
          <p:nvPr/>
        </p:nvSpPr>
        <p:spPr>
          <a:xfrm>
            <a:off x="1828800" y="1627632"/>
            <a:ext cx="2423160" cy="640080"/>
          </a:xfrm>
          <a:prstGeom prst="rect">
            <a:avLst/>
          </a:prstGeom>
          <a:noFill/>
          <a:ln/>
        </p:spPr>
        <p:txBody>
          <a:bodyPr wrap="square" lIns="0" tIns="0" rIns="0" bIns="0" rtlCol="0" anchor="t"/>
          <a:lstStyle/>
          <a:p>
            <a:pPr indent="0" marL="0">
              <a:buNone/>
            </a:pPr>
            <a:r>
              <a:rPr lang="en-US" sz="1200" dirty="0">
                <a:solidFill>
                  <a:schemeClr val="tx2"/>
                </a:solidFill>
              </a:rPr>
              <a:t>What exists now (project rules file, current site, screenshot)</a:t>
            </a:r>
            <a:endParaRPr lang="en-US" sz="1200" dirty="0"/>
          </a:p>
        </p:txBody>
      </p:sp>
      <p:sp>
        <p:nvSpPr>
          <p:cNvPr id="8" name="Tag"/>
          <p:cNvSpPr/>
          <p:nvPr/>
        </p:nvSpPr>
        <p:spPr>
          <a:xfrm>
            <a:off x="640080" y="2350008"/>
            <a:ext cx="1051560" cy="310896"/>
          </a:xfrm>
          <a:prstGeom prst="roundRect">
            <a:avLst>
              <a:gd name="adj" fmla="val 17647"/>
            </a:avLst>
          </a:prstGeom>
          <a:solidFill>
            <a:schemeClr val="accent2"/>
          </a:solidFill>
          <a:ln/>
        </p:spPr>
      </p:sp>
      <p:sp>
        <p:nvSpPr>
          <p:cNvPr id="9" name="Text 7"/>
          <p:cNvSpPr txBox="1"/>
          <p:nvPr/>
        </p:nvSpPr>
        <p:spPr>
          <a:xfrm>
            <a:off x="640080" y="2350008"/>
            <a:ext cx="1051560" cy="310896"/>
          </a:xfrm>
          <a:prstGeom prst="rect">
            <a:avLst/>
          </a:prstGeom>
          <a:noFill/>
          <a:ln/>
        </p:spPr>
        <p:txBody>
          <a:bodyPr wrap="square" lIns="0" tIns="0" rIns="0" bIns="0" rtlCol="0" anchor="ctr"/>
          <a:lstStyle/>
          <a:p>
            <a:pPr algn="ctr" indent="0" marL="0">
              <a:buNone/>
            </a:pPr>
            <a:r>
              <a:rPr lang="en-US" sz="1100" b="1" dirty="0">
                <a:solidFill>
                  <a:schemeClr val="accent1"/>
                </a:solidFill>
              </a:rPr>
              <a:t>Goal</a:t>
            </a:r>
            <a:endParaRPr lang="en-US" sz="1100" dirty="0"/>
          </a:p>
        </p:txBody>
      </p:sp>
      <p:sp>
        <p:nvSpPr>
          <p:cNvPr id="10" name="Text 8"/>
          <p:cNvSpPr txBox="1"/>
          <p:nvPr/>
        </p:nvSpPr>
        <p:spPr>
          <a:xfrm>
            <a:off x="1828800" y="2313432"/>
            <a:ext cx="2423160" cy="640080"/>
          </a:xfrm>
          <a:prstGeom prst="rect">
            <a:avLst/>
          </a:prstGeom>
          <a:noFill/>
          <a:ln/>
        </p:spPr>
        <p:txBody>
          <a:bodyPr wrap="square" lIns="0" tIns="0" rIns="0" bIns="0" rtlCol="0" anchor="t"/>
          <a:lstStyle/>
          <a:p>
            <a:pPr indent="0" marL="0">
              <a:buNone/>
            </a:pPr>
            <a:r>
              <a:rPr lang="en-US" sz="1200" dirty="0">
                <a:solidFill>
                  <a:schemeClr val="tx2"/>
                </a:solidFill>
              </a:rPr>
              <a:t>One screen or feature, e.g. “purpose-based detail page”</a:t>
            </a:r>
            <a:endParaRPr lang="en-US" sz="1200" dirty="0"/>
          </a:p>
        </p:txBody>
      </p:sp>
      <p:sp>
        <p:nvSpPr>
          <p:cNvPr id="11" name="Tag"/>
          <p:cNvSpPr/>
          <p:nvPr/>
        </p:nvSpPr>
        <p:spPr>
          <a:xfrm>
            <a:off x="640080" y="3035808"/>
            <a:ext cx="1051560" cy="310896"/>
          </a:xfrm>
          <a:prstGeom prst="roundRect">
            <a:avLst>
              <a:gd name="adj" fmla="val 17647"/>
            </a:avLst>
          </a:prstGeom>
          <a:solidFill>
            <a:schemeClr val="accent2"/>
          </a:solidFill>
          <a:ln/>
        </p:spPr>
      </p:sp>
      <p:sp>
        <p:nvSpPr>
          <p:cNvPr id="12" name="Text 10"/>
          <p:cNvSpPr txBox="1"/>
          <p:nvPr/>
        </p:nvSpPr>
        <p:spPr>
          <a:xfrm>
            <a:off x="640080" y="3035808"/>
            <a:ext cx="1051560" cy="310896"/>
          </a:xfrm>
          <a:prstGeom prst="rect">
            <a:avLst/>
          </a:prstGeom>
          <a:noFill/>
          <a:ln/>
        </p:spPr>
        <p:txBody>
          <a:bodyPr wrap="square" lIns="0" tIns="0" rIns="0" bIns="0" rtlCol="0" anchor="ctr"/>
          <a:lstStyle/>
          <a:p>
            <a:pPr algn="ctr" indent="0" marL="0">
              <a:buNone/>
            </a:pPr>
            <a:r>
              <a:rPr lang="en-US" sz="1100" b="1" dirty="0">
                <a:solidFill>
                  <a:schemeClr val="accent1"/>
                </a:solidFill>
              </a:rPr>
              <a:t>Constraints</a:t>
            </a:r>
            <a:endParaRPr lang="en-US" sz="1100" dirty="0"/>
          </a:p>
        </p:txBody>
      </p:sp>
      <p:sp>
        <p:nvSpPr>
          <p:cNvPr id="13" name="Text 11"/>
          <p:cNvSpPr txBox="1"/>
          <p:nvPr/>
        </p:nvSpPr>
        <p:spPr>
          <a:xfrm>
            <a:off x="1828800" y="2999232"/>
            <a:ext cx="2423160" cy="640080"/>
          </a:xfrm>
          <a:prstGeom prst="rect">
            <a:avLst/>
          </a:prstGeom>
          <a:noFill/>
          <a:ln/>
        </p:spPr>
        <p:txBody>
          <a:bodyPr wrap="square" lIns="0" tIns="0" rIns="0" bIns="0" rtlCol="0" anchor="t"/>
          <a:lstStyle/>
          <a:p>
            <a:pPr indent="0" marL="0">
              <a:buNone/>
            </a:pPr>
            <a:r>
              <a:rPr lang="en-US" sz="1200" dirty="0">
                <a:solidFill>
                  <a:schemeClr val="tx2"/>
                </a:solidFill>
              </a:rPr>
              <a:t>Scope list, privacy, my design mockup as reference</a:t>
            </a:r>
            <a:endParaRPr lang="en-US" sz="1200" dirty="0"/>
          </a:p>
        </p:txBody>
      </p:sp>
      <p:sp>
        <p:nvSpPr>
          <p:cNvPr id="14" name="Tag"/>
          <p:cNvSpPr/>
          <p:nvPr/>
        </p:nvSpPr>
        <p:spPr>
          <a:xfrm>
            <a:off x="640080" y="3721608"/>
            <a:ext cx="1051560" cy="310896"/>
          </a:xfrm>
          <a:prstGeom prst="roundRect">
            <a:avLst>
              <a:gd name="adj" fmla="val 17647"/>
            </a:avLst>
          </a:prstGeom>
          <a:solidFill>
            <a:schemeClr val="accent2"/>
          </a:solidFill>
          <a:ln/>
        </p:spPr>
      </p:sp>
      <p:sp>
        <p:nvSpPr>
          <p:cNvPr id="15" name="Text 13"/>
          <p:cNvSpPr txBox="1"/>
          <p:nvPr/>
        </p:nvSpPr>
        <p:spPr>
          <a:xfrm>
            <a:off x="640080" y="3721608"/>
            <a:ext cx="1051560" cy="310896"/>
          </a:xfrm>
          <a:prstGeom prst="rect">
            <a:avLst/>
          </a:prstGeom>
          <a:noFill/>
          <a:ln/>
        </p:spPr>
        <p:txBody>
          <a:bodyPr wrap="square" lIns="0" tIns="0" rIns="0" bIns="0" rtlCol="0" anchor="ctr"/>
          <a:lstStyle/>
          <a:p>
            <a:pPr algn="ctr" indent="0" marL="0">
              <a:buNone/>
            </a:pPr>
            <a:r>
              <a:rPr lang="en-US" sz="1100" b="1" dirty="0">
                <a:solidFill>
                  <a:schemeClr val="accent1"/>
                </a:solidFill>
              </a:rPr>
              <a:t>Check</a:t>
            </a:r>
            <a:endParaRPr lang="en-US" sz="1100" dirty="0"/>
          </a:p>
        </p:txBody>
      </p:sp>
      <p:sp>
        <p:nvSpPr>
          <p:cNvPr id="16" name="Text 14"/>
          <p:cNvSpPr txBox="1"/>
          <p:nvPr/>
        </p:nvSpPr>
        <p:spPr>
          <a:xfrm>
            <a:off x="1828800" y="3685032"/>
            <a:ext cx="2423160" cy="640080"/>
          </a:xfrm>
          <a:prstGeom prst="rect">
            <a:avLst/>
          </a:prstGeom>
          <a:noFill/>
          <a:ln/>
        </p:spPr>
        <p:txBody>
          <a:bodyPr wrap="square" lIns="0" tIns="0" rIns="0" bIns="0" rtlCol="0" anchor="t"/>
          <a:lstStyle/>
          <a:p>
            <a:pPr indent="0" marL="0">
              <a:buNone/>
            </a:pPr>
            <a:r>
              <a:rPr lang="en-US" sz="1200" dirty="0">
                <a:solidFill>
                  <a:schemeClr val="tx2"/>
                </a:solidFill>
              </a:rPr>
              <a:t>How I verify it, e.g. “Animation shows only Animation projects”</a:t>
            </a:r>
            <a:endParaRPr lang="en-US" sz="1200" dirty="0"/>
          </a:p>
        </p:txBody>
      </p:sp>
      <p:sp>
        <p:nvSpPr>
          <p:cNvPr id="17" name="Text 15"/>
          <p:cNvSpPr txBox="1"/>
          <p:nvPr/>
        </p:nvSpPr>
        <p:spPr>
          <a:xfrm>
            <a:off x="4663440" y="1097280"/>
            <a:ext cx="4023360" cy="320040"/>
          </a:xfrm>
          <a:prstGeom prst="rect">
            <a:avLst/>
          </a:prstGeom>
          <a:noFill/>
          <a:ln/>
        </p:spPr>
        <p:txBody>
          <a:bodyPr wrap="square" lIns="0" tIns="0" rIns="0" bIns="0" rtlCol="0" anchor="ctr"/>
          <a:lstStyle/>
          <a:p>
            <a:pPr indent="0" marL="0">
              <a:buNone/>
            </a:pPr>
            <a:r>
              <a:rPr lang="en-US" sz="1500" b="1" dirty="0">
                <a:solidFill>
                  <a:schemeClr val="tx1"/>
                </a:solidFill>
              </a:rPr>
              <a:t>The AI asked before building; I decided</a:t>
            </a:r>
            <a:endParaRPr lang="en-US" sz="1500" dirty="0"/>
          </a:p>
        </p:txBody>
      </p:sp>
      <p:sp>
        <p:nvSpPr>
          <p:cNvPr id="18" name="Decision card"/>
          <p:cNvSpPr/>
          <p:nvPr/>
        </p:nvSpPr>
        <p:spPr>
          <a:xfrm>
            <a:off x="4663440" y="1536192"/>
            <a:ext cx="4023360" cy="640080"/>
          </a:xfrm>
          <a:prstGeom prst="roundRect">
            <a:avLst>
              <a:gd name="adj" fmla="val 11429"/>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4773168" y="1664208"/>
            <a:ext cx="384048" cy="384048"/>
          </a:xfrm>
          <a:prstGeom prst="ellipse">
            <a:avLst/>
          </a:prstGeom>
          <a:solidFill>
            <a:schemeClr val="accent2"/>
          </a:solidFill>
          <a:ln/>
        </p:spPr>
      </p:sp>
      <p:pic>
        <p:nvPicPr>
          <p:cNvPr id="20" name="Icon" descr="preencoded.png">    </p:cNvPr>
          <p:cNvPicPr>
            <a:picLocks noChangeAspect="1"/>
          </p:cNvPicPr>
          <p:nvPr/>
        </p:nvPicPr>
        <p:blipFill>
          <a:blip r:embed="rId1"/>
          <a:stretch>
            <a:fillRect/>
          </a:stretch>
        </p:blipFill>
        <p:spPr>
          <a:xfrm>
            <a:off x="4865340" y="1756380"/>
            <a:ext cx="199705" cy="199705"/>
          </a:xfrm>
          <a:prstGeom prst="rect">
            <a:avLst/>
          </a:prstGeom>
        </p:spPr>
      </p:pic>
      <p:sp>
        <p:nvSpPr>
          <p:cNvPr id="21" name="Text 18"/>
          <p:cNvSpPr txBox="1"/>
          <p:nvPr/>
        </p:nvSpPr>
        <p:spPr>
          <a:xfrm>
            <a:off x="5257800" y="1591056"/>
            <a:ext cx="3337560" cy="530352"/>
          </a:xfrm>
          <a:prstGeom prst="rect">
            <a:avLst/>
          </a:prstGeom>
          <a:noFill/>
          <a:ln/>
        </p:spPr>
        <p:txBody>
          <a:bodyPr wrap="square" lIns="0" tIns="0" rIns="0" bIns="0" rtlCol="0" anchor="ctr"/>
          <a:lstStyle/>
          <a:p>
            <a:pPr indent="0" marL="0">
              <a:buNone/>
            </a:pPr>
            <a:r>
              <a:rPr lang="en-US" sz="1200" b="1" dirty="0">
                <a:solidFill>
                  <a:schemeClr val="tx1"/>
                </a:solidFill>
              </a:rPr>
              <a:t>What does “Other” mean?</a:t>
            </a:r>
            <a:endParaRPr lang="en-US" sz="1200" dirty="0"/>
          </a:p>
          <a:p>
            <a:pPr indent="0" marL="0">
              <a:buNone/>
            </a:pPr>
            <a:r>
              <a:rPr lang="en-US" sz="1200" dirty="0">
                <a:solidFill>
                  <a:schemeClr val="accent1"/>
                </a:solidFill>
              </a:rPr>
              <a:t>→ Show all categories</a:t>
            </a:r>
            <a:endParaRPr lang="en-US" sz="1200" dirty="0"/>
          </a:p>
        </p:txBody>
      </p:sp>
      <p:sp>
        <p:nvSpPr>
          <p:cNvPr id="22" name="Decision card"/>
          <p:cNvSpPr/>
          <p:nvPr/>
        </p:nvSpPr>
        <p:spPr>
          <a:xfrm>
            <a:off x="4663440" y="2286000"/>
            <a:ext cx="4023360" cy="640080"/>
          </a:xfrm>
          <a:prstGeom prst="roundRect">
            <a:avLst>
              <a:gd name="adj" fmla="val 11429"/>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3" name="Icon circle"/>
          <p:cNvSpPr/>
          <p:nvPr/>
        </p:nvSpPr>
        <p:spPr>
          <a:xfrm>
            <a:off x="4773168" y="2414016"/>
            <a:ext cx="384048" cy="384048"/>
          </a:xfrm>
          <a:prstGeom prst="ellipse">
            <a:avLst/>
          </a:prstGeom>
          <a:solidFill>
            <a:schemeClr val="accent2"/>
          </a:solidFill>
          <a:ln/>
        </p:spPr>
      </p:sp>
      <p:pic>
        <p:nvPicPr>
          <p:cNvPr id="24" name="Icon" descr="preencoded.png">    </p:cNvPr>
          <p:cNvPicPr>
            <a:picLocks noChangeAspect="1"/>
          </p:cNvPicPr>
          <p:nvPr/>
        </p:nvPicPr>
        <p:blipFill>
          <a:blip r:embed="rId2"/>
          <a:stretch>
            <a:fillRect/>
          </a:stretch>
        </p:blipFill>
        <p:spPr>
          <a:xfrm>
            <a:off x="4865340" y="2506188"/>
            <a:ext cx="199705" cy="199705"/>
          </a:xfrm>
          <a:prstGeom prst="rect">
            <a:avLst/>
          </a:prstGeom>
        </p:spPr>
      </p:pic>
      <p:sp>
        <p:nvSpPr>
          <p:cNvPr id="25" name="Text 21"/>
          <p:cNvSpPr txBox="1"/>
          <p:nvPr/>
        </p:nvSpPr>
        <p:spPr>
          <a:xfrm>
            <a:off x="5257800" y="2340864"/>
            <a:ext cx="3337560" cy="530352"/>
          </a:xfrm>
          <a:prstGeom prst="rect">
            <a:avLst/>
          </a:prstGeom>
          <a:noFill/>
          <a:ln/>
        </p:spPr>
        <p:txBody>
          <a:bodyPr wrap="square" lIns="0" tIns="0" rIns="0" bIns="0" rtlCol="0" anchor="ctr"/>
          <a:lstStyle/>
          <a:p>
            <a:pPr indent="0" marL="0">
              <a:buNone/>
            </a:pPr>
            <a:r>
              <a:rPr lang="en-US" sz="1200" b="1" dirty="0">
                <a:solidFill>
                  <a:schemeClr val="tx1"/>
                </a:solidFill>
              </a:rPr>
              <a:t>What do Academic and Explore show?</a:t>
            </a:r>
            <a:endParaRPr lang="en-US" sz="1200" dirty="0"/>
          </a:p>
          <a:p>
            <a:pPr indent="0" marL="0">
              <a:buNone/>
            </a:pPr>
            <a:r>
              <a:rPr lang="en-US" sz="1200" dirty="0">
                <a:solidFill>
                  <a:schemeClr val="accent1"/>
                </a:solidFill>
              </a:rPr>
              <a:t>→ Research projects only / everything</a:t>
            </a:r>
            <a:endParaRPr lang="en-US" sz="1200" dirty="0"/>
          </a:p>
        </p:txBody>
      </p:sp>
      <p:sp>
        <p:nvSpPr>
          <p:cNvPr id="26" name="Decision card"/>
          <p:cNvSpPr/>
          <p:nvPr/>
        </p:nvSpPr>
        <p:spPr>
          <a:xfrm>
            <a:off x="4663440" y="3035808"/>
            <a:ext cx="4023360" cy="640080"/>
          </a:xfrm>
          <a:prstGeom prst="roundRect">
            <a:avLst>
              <a:gd name="adj" fmla="val 11429"/>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7" name="Icon circle"/>
          <p:cNvSpPr/>
          <p:nvPr/>
        </p:nvSpPr>
        <p:spPr>
          <a:xfrm>
            <a:off x="4773168" y="3163824"/>
            <a:ext cx="384048" cy="384048"/>
          </a:xfrm>
          <a:prstGeom prst="ellipse">
            <a:avLst/>
          </a:prstGeom>
          <a:solidFill>
            <a:schemeClr val="accent2"/>
          </a:solidFill>
          <a:ln/>
        </p:spPr>
      </p:sp>
      <p:pic>
        <p:nvPicPr>
          <p:cNvPr id="28" name="Icon" descr="preencoded.png">    </p:cNvPr>
          <p:cNvPicPr>
            <a:picLocks noChangeAspect="1"/>
          </p:cNvPicPr>
          <p:nvPr/>
        </p:nvPicPr>
        <p:blipFill>
          <a:blip r:embed="rId3"/>
          <a:stretch>
            <a:fillRect/>
          </a:stretch>
        </p:blipFill>
        <p:spPr>
          <a:xfrm>
            <a:off x="4865340" y="3255996"/>
            <a:ext cx="199705" cy="199705"/>
          </a:xfrm>
          <a:prstGeom prst="rect">
            <a:avLst/>
          </a:prstGeom>
        </p:spPr>
      </p:pic>
      <p:sp>
        <p:nvSpPr>
          <p:cNvPr id="29" name="Text 24"/>
          <p:cNvSpPr txBox="1"/>
          <p:nvPr/>
        </p:nvSpPr>
        <p:spPr>
          <a:xfrm>
            <a:off x="5257800" y="3090672"/>
            <a:ext cx="3337560" cy="530352"/>
          </a:xfrm>
          <a:prstGeom prst="rect">
            <a:avLst/>
          </a:prstGeom>
          <a:noFill/>
          <a:ln/>
        </p:spPr>
        <p:txBody>
          <a:bodyPr wrap="square" lIns="0" tIns="0" rIns="0" bIns="0" rtlCol="0" anchor="ctr"/>
          <a:lstStyle/>
          <a:p>
            <a:pPr indent="0" marL="0">
              <a:buNone/>
            </a:pPr>
            <a:r>
              <a:rPr lang="en-US" sz="1200" b="1" dirty="0">
                <a:solidFill>
                  <a:schemeClr val="tx1"/>
                </a:solidFill>
              </a:rPr>
              <a:t>How should projects be ordered?</a:t>
            </a:r>
            <a:endParaRPr lang="en-US" sz="1200" dirty="0"/>
          </a:p>
          <a:p>
            <a:pPr indent="0" marL="0">
              <a:buNone/>
            </a:pPr>
            <a:r>
              <a:rPr lang="en-US" sz="1200" dirty="0">
                <a:solidFill>
                  <a:schemeClr val="accent1"/>
                </a:solidFill>
              </a:rPr>
              <a:t>→ Newest first</a:t>
            </a:r>
            <a:endParaRPr lang="en-US" sz="1200" dirty="0"/>
          </a:p>
        </p:txBody>
      </p:sp>
      <p:sp>
        <p:nvSpPr>
          <p:cNvPr id="30" name="Decision card"/>
          <p:cNvSpPr/>
          <p:nvPr/>
        </p:nvSpPr>
        <p:spPr>
          <a:xfrm>
            <a:off x="4663440" y="3785616"/>
            <a:ext cx="4023360" cy="640080"/>
          </a:xfrm>
          <a:prstGeom prst="roundRect">
            <a:avLst>
              <a:gd name="adj" fmla="val 11429"/>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31" name="Icon circle"/>
          <p:cNvSpPr/>
          <p:nvPr/>
        </p:nvSpPr>
        <p:spPr>
          <a:xfrm>
            <a:off x="4773168" y="3913632"/>
            <a:ext cx="384048" cy="384048"/>
          </a:xfrm>
          <a:prstGeom prst="ellipse">
            <a:avLst/>
          </a:prstGeom>
          <a:solidFill>
            <a:schemeClr val="accent2"/>
          </a:solidFill>
          <a:ln/>
        </p:spPr>
      </p:sp>
      <p:pic>
        <p:nvPicPr>
          <p:cNvPr id="32" name="Icon" descr="preencoded.png">    </p:cNvPr>
          <p:cNvPicPr>
            <a:picLocks noChangeAspect="1"/>
          </p:cNvPicPr>
          <p:nvPr/>
        </p:nvPicPr>
        <p:blipFill>
          <a:blip r:embed="rId4"/>
          <a:stretch>
            <a:fillRect/>
          </a:stretch>
        </p:blipFill>
        <p:spPr>
          <a:xfrm>
            <a:off x="4865340" y="4005804"/>
            <a:ext cx="199705" cy="199705"/>
          </a:xfrm>
          <a:prstGeom prst="rect">
            <a:avLst/>
          </a:prstGeom>
        </p:spPr>
      </p:pic>
      <p:sp>
        <p:nvSpPr>
          <p:cNvPr id="33" name="Text 27"/>
          <p:cNvSpPr txBox="1"/>
          <p:nvPr/>
        </p:nvSpPr>
        <p:spPr>
          <a:xfrm>
            <a:off x="5257800" y="3840480"/>
            <a:ext cx="3337560" cy="530352"/>
          </a:xfrm>
          <a:prstGeom prst="rect">
            <a:avLst/>
          </a:prstGeom>
          <a:noFill/>
          <a:ln/>
        </p:spPr>
        <p:txBody>
          <a:bodyPr wrap="square" lIns="0" tIns="0" rIns="0" bIns="0" rtlCol="0" anchor="ctr"/>
          <a:lstStyle/>
          <a:p>
            <a:pPr indent="0" marL="0">
              <a:buNone/>
            </a:pPr>
            <a:r>
              <a:rPr lang="en-US" sz="1200" b="1" dirty="0">
                <a:solidFill>
                  <a:schemeClr val="tx1"/>
                </a:solidFill>
              </a:rPr>
              <a:t>Real photos already?</a:t>
            </a:r>
            <a:endParaRPr lang="en-US" sz="1200" dirty="0"/>
          </a:p>
          <a:p>
            <a:pPr indent="0" marL="0">
              <a:buNone/>
            </a:pPr>
            <a:r>
              <a:rPr lang="en-US" sz="1200" dirty="0">
                <a:solidFill>
                  <a:schemeClr val="accent1"/>
                </a:solidFill>
              </a:rPr>
              <a:t>→ Use placeholders for now</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Current development status</a:t>
            </a:r>
            <a:endParaRPr lang="en-US" sz="3000" dirty="0"/>
          </a:p>
        </p:txBody>
      </p:sp>
      <p:sp>
        <p:nvSpPr>
          <p:cNvPr id="3" name="Stat card"/>
          <p:cNvSpPr/>
          <p:nvPr/>
        </p:nvSpPr>
        <p:spPr>
          <a:xfrm>
            <a:off x="457200" y="1097280"/>
            <a:ext cx="2377440" cy="987552"/>
          </a:xfrm>
          <a:prstGeom prst="roundRect">
            <a:avLst>
              <a:gd name="adj" fmla="val 7407"/>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188720"/>
            <a:ext cx="201168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9</a:t>
            </a:r>
            <a:endParaRPr lang="en-US" sz="2800" dirty="0"/>
          </a:p>
        </p:txBody>
      </p:sp>
      <p:sp>
        <p:nvSpPr>
          <p:cNvPr id="5" name="Text 3"/>
          <p:cNvSpPr txBox="1"/>
          <p:nvPr/>
        </p:nvSpPr>
        <p:spPr>
          <a:xfrm>
            <a:off x="640080" y="1691640"/>
            <a:ext cx="2011680" cy="274320"/>
          </a:xfrm>
          <a:prstGeom prst="rect">
            <a:avLst/>
          </a:prstGeom>
          <a:noFill/>
          <a:ln/>
        </p:spPr>
        <p:txBody>
          <a:bodyPr wrap="square" lIns="0" tIns="0" rIns="0" bIns="0" rtlCol="0" anchor="ctr"/>
          <a:lstStyle/>
          <a:p>
            <a:pPr indent="0" marL="0">
              <a:buNone/>
            </a:pPr>
            <a:r>
              <a:rPr lang="en-US" sz="1200" dirty="0">
                <a:solidFill>
                  <a:schemeClr val="tx2"/>
                </a:solidFill>
              </a:rPr>
              <a:t>screens built</a:t>
            </a:r>
            <a:endParaRPr lang="en-US" sz="1200" dirty="0"/>
          </a:p>
        </p:txBody>
      </p:sp>
      <p:sp>
        <p:nvSpPr>
          <p:cNvPr id="6" name="Stat card"/>
          <p:cNvSpPr/>
          <p:nvPr/>
        </p:nvSpPr>
        <p:spPr>
          <a:xfrm>
            <a:off x="457200" y="2240280"/>
            <a:ext cx="2377440" cy="987552"/>
          </a:xfrm>
          <a:prstGeom prst="roundRect">
            <a:avLst>
              <a:gd name="adj" fmla="val 7407"/>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40080" y="2331720"/>
            <a:ext cx="201168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13</a:t>
            </a:r>
            <a:endParaRPr lang="en-US" sz="2800" dirty="0"/>
          </a:p>
        </p:txBody>
      </p:sp>
      <p:sp>
        <p:nvSpPr>
          <p:cNvPr id="8" name="Text 6"/>
          <p:cNvSpPr txBox="1"/>
          <p:nvPr/>
        </p:nvSpPr>
        <p:spPr>
          <a:xfrm>
            <a:off x="640080" y="2834640"/>
            <a:ext cx="2011680" cy="274320"/>
          </a:xfrm>
          <a:prstGeom prst="rect">
            <a:avLst/>
          </a:prstGeom>
          <a:noFill/>
          <a:ln/>
        </p:spPr>
        <p:txBody>
          <a:bodyPr wrap="square" lIns="0" tIns="0" rIns="0" bIns="0" rtlCol="0" anchor="ctr"/>
          <a:lstStyle/>
          <a:p>
            <a:pPr indent="0" marL="0">
              <a:buNone/>
            </a:pPr>
            <a:r>
              <a:rPr lang="en-US" sz="1200" dirty="0">
                <a:solidFill>
                  <a:schemeClr val="tx2"/>
                </a:solidFill>
              </a:rPr>
              <a:t>commits on GitHub</a:t>
            </a:r>
            <a:endParaRPr lang="en-US" sz="1200" dirty="0"/>
          </a:p>
        </p:txBody>
      </p:sp>
      <p:sp>
        <p:nvSpPr>
          <p:cNvPr id="9" name="Stat card"/>
          <p:cNvSpPr/>
          <p:nvPr/>
        </p:nvSpPr>
        <p:spPr>
          <a:xfrm>
            <a:off x="457200" y="3383280"/>
            <a:ext cx="2377440" cy="987552"/>
          </a:xfrm>
          <a:prstGeom prst="roundRect">
            <a:avLst>
              <a:gd name="adj" fmla="val 7407"/>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0080" y="3474720"/>
            <a:ext cx="201168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Live</a:t>
            </a:r>
            <a:endParaRPr lang="en-US" sz="2800" dirty="0"/>
          </a:p>
        </p:txBody>
      </p:sp>
      <p:sp>
        <p:nvSpPr>
          <p:cNvPr id="11" name="Text 9"/>
          <p:cNvSpPr txBox="1"/>
          <p:nvPr/>
        </p:nvSpPr>
        <p:spPr>
          <a:xfrm>
            <a:off x="640080" y="3977640"/>
            <a:ext cx="2011680" cy="274320"/>
          </a:xfrm>
          <a:prstGeom prst="rect">
            <a:avLst/>
          </a:prstGeom>
          <a:noFill/>
          <a:ln/>
        </p:spPr>
        <p:txBody>
          <a:bodyPr wrap="square" lIns="0" tIns="0" rIns="0" bIns="0" rtlCol="0" anchor="ctr"/>
          <a:lstStyle/>
          <a:p>
            <a:pPr indent="0" marL="0">
              <a:buNone/>
            </a:pPr>
            <a:r>
              <a:rPr lang="en-US" sz="1200" dirty="0">
                <a:solidFill>
                  <a:schemeClr val="tx2"/>
                </a:solidFill>
              </a:rPr>
              <a:t>on Vercel since Oct 6</a:t>
            </a:r>
            <a:endParaRPr lang="en-US" sz="1200" dirty="0"/>
          </a:p>
        </p:txBody>
      </p:sp>
      <p:sp>
        <p:nvSpPr>
          <p:cNvPr id="12" name="Text 10"/>
          <p:cNvSpPr txBox="1"/>
          <p:nvPr/>
        </p:nvSpPr>
        <p:spPr>
          <a:xfrm>
            <a:off x="3154680" y="1097280"/>
            <a:ext cx="5532120" cy="320040"/>
          </a:xfrm>
          <a:prstGeom prst="rect">
            <a:avLst/>
          </a:prstGeom>
          <a:noFill/>
          <a:ln/>
        </p:spPr>
        <p:txBody>
          <a:bodyPr wrap="square" lIns="0" tIns="0" rIns="0" bIns="0" rtlCol="0" anchor="ctr"/>
          <a:lstStyle/>
          <a:p>
            <a:pPr indent="0" marL="0">
              <a:buNone/>
            </a:pPr>
            <a:r>
              <a:rPr lang="en-US" sz="1500" b="1" dirty="0">
                <a:solidFill>
                  <a:schemeClr val="tx1"/>
                </a:solidFill>
              </a:rPr>
              <a:t>Completion checks from my project plan</a:t>
            </a:r>
            <a:endParaRPr lang="en-US" sz="1500" dirty="0"/>
          </a:p>
        </p:txBody>
      </p:sp>
      <p:sp>
        <p:nvSpPr>
          <p:cNvPr id="13" name="Check row"/>
          <p:cNvSpPr/>
          <p:nvPr/>
        </p:nvSpPr>
        <p:spPr>
          <a:xfrm>
            <a:off x="3154680" y="1536192"/>
            <a:ext cx="5532120" cy="621792"/>
          </a:xfrm>
          <a:prstGeom prst="roundRect">
            <a:avLst>
              <a:gd name="adj" fmla="val 11765"/>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14" name="Status icon" descr="preencoded.png">    </p:cNvPr>
          <p:cNvPicPr>
            <a:picLocks noChangeAspect="1"/>
          </p:cNvPicPr>
          <p:nvPr/>
        </p:nvPicPr>
        <p:blipFill>
          <a:blip r:embed="rId1"/>
          <a:stretch>
            <a:fillRect/>
          </a:stretch>
        </p:blipFill>
        <p:spPr>
          <a:xfrm>
            <a:off x="3291840" y="1691640"/>
            <a:ext cx="310896" cy="310896"/>
          </a:xfrm>
          <a:prstGeom prst="rect">
            <a:avLst/>
          </a:prstGeom>
        </p:spPr>
      </p:pic>
      <p:sp>
        <p:nvSpPr>
          <p:cNvPr id="15" name="Text 12"/>
          <p:cNvSpPr txBox="1"/>
          <p:nvPr/>
        </p:nvSpPr>
        <p:spPr>
          <a:xfrm>
            <a:off x="3749040" y="1581912"/>
            <a:ext cx="4846320" cy="530352"/>
          </a:xfrm>
          <a:prstGeom prst="rect">
            <a:avLst/>
          </a:prstGeom>
          <a:noFill/>
          <a:ln/>
        </p:spPr>
        <p:txBody>
          <a:bodyPr wrap="square" lIns="0" tIns="0" rIns="0" bIns="0" rtlCol="0" anchor="ctr"/>
          <a:lstStyle/>
          <a:p>
            <a:pPr indent="0" marL="0">
              <a:buNone/>
            </a:pPr>
            <a:r>
              <a:rPr lang="en-US" sz="1200" b="1" dirty="0">
                <a:solidFill>
                  <a:schemeClr val="tx1"/>
                </a:solidFill>
              </a:rPr>
              <a:t>Home → Animation shows only Animation projects (incl. multi-tagged)</a:t>
            </a:r>
            <a:endParaRPr lang="en-US" sz="1200" dirty="0"/>
          </a:p>
          <a:p>
            <a:pPr indent="0" marL="0">
              <a:buNone/>
            </a:pPr>
            <a:r>
              <a:rPr lang="en-US" sz="1200" dirty="0">
                <a:solidFill>
                  <a:schemeClr val="accent3"/>
                </a:solidFill>
              </a:rPr>
              <a:t>Working on the live site</a:t>
            </a:r>
            <a:endParaRPr lang="en-US" sz="1200" dirty="0"/>
          </a:p>
        </p:txBody>
      </p:sp>
      <p:sp>
        <p:nvSpPr>
          <p:cNvPr id="16" name="Check row"/>
          <p:cNvSpPr/>
          <p:nvPr/>
        </p:nvSpPr>
        <p:spPr>
          <a:xfrm>
            <a:off x="3154680" y="2267712"/>
            <a:ext cx="5532120" cy="621792"/>
          </a:xfrm>
          <a:prstGeom prst="roundRect">
            <a:avLst>
              <a:gd name="adj" fmla="val 11765"/>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17" name="Status icon" descr="preencoded.png">    </p:cNvPr>
          <p:cNvPicPr>
            <a:picLocks noChangeAspect="1"/>
          </p:cNvPicPr>
          <p:nvPr/>
        </p:nvPicPr>
        <p:blipFill>
          <a:blip r:embed="rId2"/>
          <a:stretch>
            <a:fillRect/>
          </a:stretch>
        </p:blipFill>
        <p:spPr>
          <a:xfrm>
            <a:off x="3291840" y="2423160"/>
            <a:ext cx="310896" cy="310896"/>
          </a:xfrm>
          <a:prstGeom prst="rect">
            <a:avLst/>
          </a:prstGeom>
        </p:spPr>
      </p:pic>
      <p:sp>
        <p:nvSpPr>
          <p:cNvPr id="18" name="Text 14"/>
          <p:cNvSpPr txBox="1"/>
          <p:nvPr/>
        </p:nvSpPr>
        <p:spPr>
          <a:xfrm>
            <a:off x="3749040" y="2313432"/>
            <a:ext cx="4846320" cy="530352"/>
          </a:xfrm>
          <a:prstGeom prst="rect">
            <a:avLst/>
          </a:prstGeom>
          <a:noFill/>
          <a:ln/>
        </p:spPr>
        <p:txBody>
          <a:bodyPr wrap="square" lIns="0" tIns="0" rIns="0" bIns="0" rtlCol="0" anchor="ctr"/>
          <a:lstStyle/>
          <a:p>
            <a:pPr indent="0" marL="0">
              <a:buNone/>
            </a:pPr>
            <a:r>
              <a:rPr lang="en-US" sz="1200" b="1" dirty="0">
                <a:solidFill>
                  <a:schemeClr val="tx1"/>
                </a:solidFill>
              </a:rPr>
              <a:t>Contact form shows a confirmation and the message is saved</a:t>
            </a:r>
            <a:endParaRPr lang="en-US" sz="1200" dirty="0"/>
          </a:p>
          <a:p>
            <a:pPr indent="0" marL="0">
              <a:buNone/>
            </a:pPr>
            <a:r>
              <a:rPr lang="en-US" sz="1200" dirty="0">
                <a:solidFill>
                  <a:schemeClr val="accent3"/>
                </a:solidFill>
              </a:rPr>
              <a:t>Working on the live site</a:t>
            </a:r>
            <a:endParaRPr lang="en-US" sz="1200" dirty="0"/>
          </a:p>
        </p:txBody>
      </p:sp>
      <p:sp>
        <p:nvSpPr>
          <p:cNvPr id="19" name="Check row"/>
          <p:cNvSpPr/>
          <p:nvPr/>
        </p:nvSpPr>
        <p:spPr>
          <a:xfrm>
            <a:off x="3154680" y="2999232"/>
            <a:ext cx="5532120" cy="621792"/>
          </a:xfrm>
          <a:prstGeom prst="roundRect">
            <a:avLst>
              <a:gd name="adj" fmla="val 11765"/>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20" name="Status icon" descr="preencoded.png">    </p:cNvPr>
          <p:cNvPicPr>
            <a:picLocks noChangeAspect="1"/>
          </p:cNvPicPr>
          <p:nvPr/>
        </p:nvPicPr>
        <p:blipFill>
          <a:blip r:embed="rId3"/>
          <a:stretch>
            <a:fillRect/>
          </a:stretch>
        </p:blipFill>
        <p:spPr>
          <a:xfrm>
            <a:off x="3291840" y="3154680"/>
            <a:ext cx="310896" cy="310896"/>
          </a:xfrm>
          <a:prstGeom prst="rect">
            <a:avLst/>
          </a:prstGeom>
        </p:spPr>
      </p:pic>
      <p:sp>
        <p:nvSpPr>
          <p:cNvPr id="21" name="Text 16"/>
          <p:cNvSpPr txBox="1"/>
          <p:nvPr/>
        </p:nvSpPr>
        <p:spPr>
          <a:xfrm>
            <a:off x="3749040" y="3044952"/>
            <a:ext cx="4846320" cy="530352"/>
          </a:xfrm>
          <a:prstGeom prst="rect">
            <a:avLst/>
          </a:prstGeom>
          <a:noFill/>
          <a:ln/>
        </p:spPr>
        <p:txBody>
          <a:bodyPr wrap="square" lIns="0" tIns="0" rIns="0" bIns="0" rtlCol="0" anchor="ctr"/>
          <a:lstStyle/>
          <a:p>
            <a:pPr indent="0" marL="0">
              <a:buNone/>
            </a:pPr>
            <a:r>
              <a:rPr lang="en-US" sz="1200" b="1" dirty="0">
                <a:solidFill>
                  <a:schemeClr val="tx1"/>
                </a:solidFill>
              </a:rPr>
              <a:t>Contact messages visible in the Admin Dashboard</a:t>
            </a:r>
            <a:endParaRPr lang="en-US" sz="1200" dirty="0"/>
          </a:p>
          <a:p>
            <a:pPr indent="0" marL="0">
              <a:buNone/>
            </a:pPr>
            <a:r>
              <a:rPr lang="en-US" sz="1200" dirty="0">
                <a:solidFill>
                  <a:schemeClr val="accent4"/>
                </a:solidFill>
              </a:rPr>
              <a:t>Built; waiting for my admin account</a:t>
            </a:r>
            <a:endParaRPr lang="en-US" sz="1200" dirty="0"/>
          </a:p>
        </p:txBody>
      </p:sp>
      <p:sp>
        <p:nvSpPr>
          <p:cNvPr id="22" name="Check row"/>
          <p:cNvSpPr/>
          <p:nvPr/>
        </p:nvSpPr>
        <p:spPr>
          <a:xfrm>
            <a:off x="3154680" y="3730752"/>
            <a:ext cx="5532120" cy="621792"/>
          </a:xfrm>
          <a:prstGeom prst="roundRect">
            <a:avLst>
              <a:gd name="adj" fmla="val 11765"/>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pic>
        <p:nvPicPr>
          <p:cNvPr id="23" name="Status icon" descr="preencoded.png">    </p:cNvPr>
          <p:cNvPicPr>
            <a:picLocks noChangeAspect="1"/>
          </p:cNvPicPr>
          <p:nvPr/>
        </p:nvPicPr>
        <p:blipFill>
          <a:blip r:embed="rId4"/>
          <a:stretch>
            <a:fillRect/>
          </a:stretch>
        </p:blipFill>
        <p:spPr>
          <a:xfrm>
            <a:off x="3291840" y="3886200"/>
            <a:ext cx="310896" cy="310896"/>
          </a:xfrm>
          <a:prstGeom prst="rect">
            <a:avLst/>
          </a:prstGeom>
        </p:spPr>
      </p:pic>
      <p:sp>
        <p:nvSpPr>
          <p:cNvPr id="24" name="Text 18"/>
          <p:cNvSpPr txBox="1"/>
          <p:nvPr/>
        </p:nvSpPr>
        <p:spPr>
          <a:xfrm>
            <a:off x="3749040" y="3776472"/>
            <a:ext cx="4846320" cy="530352"/>
          </a:xfrm>
          <a:prstGeom prst="rect">
            <a:avLst/>
          </a:prstGeom>
          <a:noFill/>
          <a:ln/>
        </p:spPr>
        <p:txBody>
          <a:bodyPr wrap="square" lIns="0" tIns="0" rIns="0" bIns="0" rtlCol="0" anchor="ctr"/>
          <a:lstStyle/>
          <a:p>
            <a:pPr indent="0" marL="0">
              <a:buNone/>
            </a:pPr>
            <a:r>
              <a:rPr lang="en-US" sz="1200" b="1" dirty="0">
                <a:solidFill>
                  <a:schemeClr val="tx1"/>
                </a:solidFill>
              </a:rPr>
              <a:t>Admin edits a title → appears on the site without redeploying</a:t>
            </a:r>
            <a:endParaRPr lang="en-US" sz="1200" dirty="0"/>
          </a:p>
          <a:p>
            <a:pPr indent="0" marL="0">
              <a:buNone/>
            </a:pPr>
            <a:r>
              <a:rPr lang="en-US" sz="1200" dirty="0">
                <a:solidFill>
                  <a:schemeClr val="accent4"/>
                </a:solidFill>
              </a:rPr>
              <a:t>Built and tested; live check this week</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Next steps in development</a:t>
            </a:r>
            <a:endParaRPr lang="en-US" sz="3000" dirty="0"/>
          </a:p>
        </p:txBody>
      </p:sp>
      <p:sp>
        <p:nvSpPr>
          <p:cNvPr id="3" name="Step card"/>
          <p:cNvSpPr/>
          <p:nvPr/>
        </p:nvSpPr>
        <p:spPr>
          <a:xfrm>
            <a:off x="457200" y="1143000"/>
            <a:ext cx="1920240" cy="2423160"/>
          </a:xfrm>
          <a:prstGeom prst="roundRect">
            <a:avLst>
              <a:gd name="adj" fmla="val 381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28016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01</a:t>
            </a:r>
            <a:endParaRPr lang="en-US" sz="2600" dirty="0"/>
          </a:p>
        </p:txBody>
      </p:sp>
      <p:sp>
        <p:nvSpPr>
          <p:cNvPr id="5" name="Icon circle"/>
          <p:cNvSpPr/>
          <p:nvPr/>
        </p:nvSpPr>
        <p:spPr>
          <a:xfrm>
            <a:off x="1755648" y="1298448"/>
            <a:ext cx="438912" cy="438912"/>
          </a:xfrm>
          <a:prstGeom prst="ellipse">
            <a:avLst/>
          </a:prstGeom>
          <a:solidFill>
            <a:schemeClr val="accent2"/>
          </a:solidFill>
          <a:ln/>
        </p:spPr>
      </p:sp>
      <p:pic>
        <p:nvPicPr>
          <p:cNvPr id="6" name="Icon" descr="preencoded.png">    </p:cNvPr>
          <p:cNvPicPr>
            <a:picLocks noChangeAspect="1"/>
          </p:cNvPicPr>
          <p:nvPr/>
        </p:nvPicPr>
        <p:blipFill>
          <a:blip r:embed="rId1"/>
          <a:stretch>
            <a:fillRect/>
          </a:stretch>
        </p:blipFill>
        <p:spPr>
          <a:xfrm>
            <a:off x="1860987" y="1403787"/>
            <a:ext cx="228234" cy="228234"/>
          </a:xfrm>
          <a:prstGeom prst="rect">
            <a:avLst/>
          </a:prstGeom>
        </p:spPr>
      </p:pic>
      <p:sp>
        <p:nvSpPr>
          <p:cNvPr id="7" name="Text 4"/>
          <p:cNvSpPr txBox="1"/>
          <p:nvPr/>
        </p:nvSpPr>
        <p:spPr>
          <a:xfrm>
            <a:off x="640080" y="1874520"/>
            <a:ext cx="1600200" cy="365760"/>
          </a:xfrm>
          <a:prstGeom prst="rect">
            <a:avLst/>
          </a:prstGeom>
          <a:noFill/>
          <a:ln/>
        </p:spPr>
        <p:txBody>
          <a:bodyPr wrap="square" lIns="0" tIns="0" rIns="0" bIns="0" rtlCol="0" anchor="t"/>
          <a:lstStyle/>
          <a:p>
            <a:pPr indent="0" marL="0">
              <a:buNone/>
            </a:pPr>
            <a:r>
              <a:rPr lang="en-US" sz="1500" b="1" dirty="0">
                <a:solidFill>
                  <a:schemeClr val="tx1"/>
                </a:solidFill>
              </a:rPr>
              <a:t>Go live with admin</a:t>
            </a:r>
            <a:endParaRPr lang="en-US" sz="1500" dirty="0"/>
          </a:p>
        </p:txBody>
      </p:sp>
      <p:sp>
        <p:nvSpPr>
          <p:cNvPr id="8" name="Text 5"/>
          <p:cNvSpPr txBox="1"/>
          <p:nvPr/>
        </p:nvSpPr>
        <p:spPr>
          <a:xfrm>
            <a:off x="640080" y="2286000"/>
            <a:ext cx="1600200" cy="1188720"/>
          </a:xfrm>
          <a:prstGeom prst="rect">
            <a:avLst/>
          </a:prstGeom>
          <a:noFill/>
          <a:ln/>
        </p:spPr>
        <p:txBody>
          <a:bodyPr wrap="square" lIns="0" tIns="0" rIns="0" bIns="0" rtlCol="0" anchor="t"/>
          <a:lstStyle/>
          <a:p>
            <a:pPr indent="0" marL="0">
              <a:buNone/>
            </a:pPr>
            <a:r>
              <a:rPr lang="en-US" sz="1200" dirty="0">
                <a:solidFill>
                  <a:schemeClr val="tx2"/>
                </a:solidFill>
              </a:rPr>
              <a:t>Create my admin account, turn off public sign-up, run the database update.</a:t>
            </a:r>
            <a:endParaRPr lang="en-US" sz="1200" dirty="0"/>
          </a:p>
        </p:txBody>
      </p:sp>
      <p:sp>
        <p:nvSpPr>
          <p:cNvPr id="9" name="Step card"/>
          <p:cNvSpPr/>
          <p:nvPr/>
        </p:nvSpPr>
        <p:spPr>
          <a:xfrm>
            <a:off x="2560320" y="1143000"/>
            <a:ext cx="1920240" cy="2423160"/>
          </a:xfrm>
          <a:prstGeom prst="roundRect">
            <a:avLst>
              <a:gd name="adj" fmla="val 381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2743200" y="128016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02</a:t>
            </a:r>
            <a:endParaRPr lang="en-US" sz="2600" dirty="0"/>
          </a:p>
        </p:txBody>
      </p:sp>
      <p:sp>
        <p:nvSpPr>
          <p:cNvPr id="11" name="Icon circle"/>
          <p:cNvSpPr/>
          <p:nvPr/>
        </p:nvSpPr>
        <p:spPr>
          <a:xfrm>
            <a:off x="3858768" y="1298448"/>
            <a:ext cx="438912" cy="438912"/>
          </a:xfrm>
          <a:prstGeom prst="ellipse">
            <a:avLst/>
          </a:prstGeom>
          <a:solidFill>
            <a:schemeClr val="accent2"/>
          </a:solidFill>
          <a:ln/>
        </p:spPr>
      </p:sp>
      <p:pic>
        <p:nvPicPr>
          <p:cNvPr id="12" name="Icon" descr="preencoded.png">    </p:cNvPr>
          <p:cNvPicPr>
            <a:picLocks noChangeAspect="1"/>
          </p:cNvPicPr>
          <p:nvPr/>
        </p:nvPicPr>
        <p:blipFill>
          <a:blip r:embed="rId2"/>
          <a:stretch>
            <a:fillRect/>
          </a:stretch>
        </p:blipFill>
        <p:spPr>
          <a:xfrm>
            <a:off x="3964107" y="1403787"/>
            <a:ext cx="228234" cy="228234"/>
          </a:xfrm>
          <a:prstGeom prst="rect">
            <a:avLst/>
          </a:prstGeom>
        </p:spPr>
      </p:pic>
      <p:sp>
        <p:nvSpPr>
          <p:cNvPr id="13" name="Text 9"/>
          <p:cNvSpPr txBox="1"/>
          <p:nvPr/>
        </p:nvSpPr>
        <p:spPr>
          <a:xfrm>
            <a:off x="2743200" y="1874520"/>
            <a:ext cx="1600200" cy="365760"/>
          </a:xfrm>
          <a:prstGeom prst="rect">
            <a:avLst/>
          </a:prstGeom>
          <a:noFill/>
          <a:ln/>
        </p:spPr>
        <p:txBody>
          <a:bodyPr wrap="square" lIns="0" tIns="0" rIns="0" bIns="0" rtlCol="0" anchor="t"/>
          <a:lstStyle/>
          <a:p>
            <a:pPr indent="0" marL="0">
              <a:buNone/>
            </a:pPr>
            <a:r>
              <a:rPr lang="en-US" sz="1500" b="1" dirty="0">
                <a:solidFill>
                  <a:schemeClr val="tx1"/>
                </a:solidFill>
              </a:rPr>
              <a:t>Real content</a:t>
            </a:r>
            <a:endParaRPr lang="en-US" sz="1500" dirty="0"/>
          </a:p>
        </p:txBody>
      </p:sp>
      <p:sp>
        <p:nvSpPr>
          <p:cNvPr id="14" name="Text 10"/>
          <p:cNvSpPr txBox="1"/>
          <p:nvPr/>
        </p:nvSpPr>
        <p:spPr>
          <a:xfrm>
            <a:off x="2743200" y="2286000"/>
            <a:ext cx="1600200" cy="1188720"/>
          </a:xfrm>
          <a:prstGeom prst="rect">
            <a:avLst/>
          </a:prstGeom>
          <a:noFill/>
          <a:ln/>
        </p:spPr>
        <p:txBody>
          <a:bodyPr wrap="square" lIns="0" tIns="0" rIns="0" bIns="0" rtlCol="0" anchor="t"/>
          <a:lstStyle/>
          <a:p>
            <a:pPr indent="0" marL="0">
              <a:buNone/>
            </a:pPr>
            <a:r>
              <a:rPr lang="en-US" sz="1200" dirty="0">
                <a:solidFill>
                  <a:schemeClr val="tx2"/>
                </a:solidFill>
              </a:rPr>
              <a:t>Replace sample projects with my own videos, stills and descriptions.</a:t>
            </a:r>
            <a:endParaRPr lang="en-US" sz="1200" dirty="0"/>
          </a:p>
        </p:txBody>
      </p:sp>
      <p:sp>
        <p:nvSpPr>
          <p:cNvPr id="15" name="Step card"/>
          <p:cNvSpPr/>
          <p:nvPr/>
        </p:nvSpPr>
        <p:spPr>
          <a:xfrm>
            <a:off x="4663440" y="1143000"/>
            <a:ext cx="1920240" cy="2423160"/>
          </a:xfrm>
          <a:prstGeom prst="roundRect">
            <a:avLst>
              <a:gd name="adj" fmla="val 381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6" name="Text 12"/>
          <p:cNvSpPr txBox="1"/>
          <p:nvPr/>
        </p:nvSpPr>
        <p:spPr>
          <a:xfrm>
            <a:off x="4846320" y="128016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03</a:t>
            </a:r>
            <a:endParaRPr lang="en-US" sz="2600" dirty="0"/>
          </a:p>
        </p:txBody>
      </p:sp>
      <p:sp>
        <p:nvSpPr>
          <p:cNvPr id="17" name="Icon circle"/>
          <p:cNvSpPr/>
          <p:nvPr/>
        </p:nvSpPr>
        <p:spPr>
          <a:xfrm>
            <a:off x="5961888" y="1298448"/>
            <a:ext cx="438912" cy="438912"/>
          </a:xfrm>
          <a:prstGeom prst="ellipse">
            <a:avLst/>
          </a:prstGeom>
          <a:solidFill>
            <a:schemeClr val="accent2"/>
          </a:solidFill>
          <a:ln/>
        </p:spPr>
      </p:sp>
      <p:pic>
        <p:nvPicPr>
          <p:cNvPr id="18" name="Icon" descr="preencoded.png">    </p:cNvPr>
          <p:cNvPicPr>
            <a:picLocks noChangeAspect="1"/>
          </p:cNvPicPr>
          <p:nvPr/>
        </p:nvPicPr>
        <p:blipFill>
          <a:blip r:embed="rId3"/>
          <a:stretch>
            <a:fillRect/>
          </a:stretch>
        </p:blipFill>
        <p:spPr>
          <a:xfrm>
            <a:off x="6067227" y="1403787"/>
            <a:ext cx="228234" cy="228234"/>
          </a:xfrm>
          <a:prstGeom prst="rect">
            <a:avLst/>
          </a:prstGeom>
        </p:spPr>
      </p:pic>
      <p:sp>
        <p:nvSpPr>
          <p:cNvPr id="19" name="Text 14"/>
          <p:cNvSpPr txBox="1"/>
          <p:nvPr/>
        </p:nvSpPr>
        <p:spPr>
          <a:xfrm>
            <a:off x="4846320" y="1874520"/>
            <a:ext cx="1600200" cy="365760"/>
          </a:xfrm>
          <a:prstGeom prst="rect">
            <a:avLst/>
          </a:prstGeom>
          <a:noFill/>
          <a:ln/>
        </p:spPr>
        <p:txBody>
          <a:bodyPr wrap="square" lIns="0" tIns="0" rIns="0" bIns="0" rtlCol="0" anchor="t"/>
          <a:lstStyle/>
          <a:p>
            <a:pPr indent="0" marL="0">
              <a:buNone/>
            </a:pPr>
            <a:r>
              <a:rPr lang="en-US" sz="1500" b="1" dirty="0">
                <a:solidFill>
                  <a:schemeClr val="tx1"/>
                </a:solidFill>
              </a:rPr>
              <a:t>Real profile</a:t>
            </a:r>
            <a:endParaRPr lang="en-US" sz="1500" dirty="0"/>
          </a:p>
        </p:txBody>
      </p:sp>
      <p:sp>
        <p:nvSpPr>
          <p:cNvPr id="20" name="Text 15"/>
          <p:cNvSpPr txBox="1"/>
          <p:nvPr/>
        </p:nvSpPr>
        <p:spPr>
          <a:xfrm>
            <a:off x="4846320" y="2286000"/>
            <a:ext cx="1600200" cy="1188720"/>
          </a:xfrm>
          <a:prstGeom prst="rect">
            <a:avLst/>
          </a:prstGeom>
          <a:noFill/>
          <a:ln/>
        </p:spPr>
        <p:txBody>
          <a:bodyPr wrap="square" lIns="0" tIns="0" rIns="0" bIns="0" rtlCol="0" anchor="t"/>
          <a:lstStyle/>
          <a:p>
            <a:pPr indent="0" marL="0">
              <a:buNone/>
            </a:pPr>
            <a:r>
              <a:rPr lang="en-US" sz="1200" dirty="0">
                <a:solidFill>
                  <a:schemeClr val="tx2"/>
                </a:solidFill>
              </a:rPr>
              <a:t>Bio, skills, experience, education, hero photo and CV link.</a:t>
            </a:r>
            <a:endParaRPr lang="en-US" sz="1200" dirty="0"/>
          </a:p>
        </p:txBody>
      </p:sp>
      <p:sp>
        <p:nvSpPr>
          <p:cNvPr id="21" name="Step card"/>
          <p:cNvSpPr/>
          <p:nvPr/>
        </p:nvSpPr>
        <p:spPr>
          <a:xfrm>
            <a:off x="6766560" y="1143000"/>
            <a:ext cx="1920240" cy="2423160"/>
          </a:xfrm>
          <a:prstGeom prst="roundRect">
            <a:avLst>
              <a:gd name="adj" fmla="val 381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2" name="Text 17"/>
          <p:cNvSpPr txBox="1"/>
          <p:nvPr/>
        </p:nvSpPr>
        <p:spPr>
          <a:xfrm>
            <a:off x="6949440" y="128016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04</a:t>
            </a:r>
            <a:endParaRPr lang="en-US" sz="2600" dirty="0"/>
          </a:p>
        </p:txBody>
      </p:sp>
      <p:sp>
        <p:nvSpPr>
          <p:cNvPr id="23" name="Icon circle"/>
          <p:cNvSpPr/>
          <p:nvPr/>
        </p:nvSpPr>
        <p:spPr>
          <a:xfrm>
            <a:off x="8065008" y="1298448"/>
            <a:ext cx="438912" cy="438912"/>
          </a:xfrm>
          <a:prstGeom prst="ellipse">
            <a:avLst/>
          </a:prstGeom>
          <a:solidFill>
            <a:schemeClr val="accent2"/>
          </a:solidFill>
          <a:ln/>
        </p:spPr>
      </p:sp>
      <p:pic>
        <p:nvPicPr>
          <p:cNvPr id="24" name="Icon" descr="preencoded.png">    </p:cNvPr>
          <p:cNvPicPr>
            <a:picLocks noChangeAspect="1"/>
          </p:cNvPicPr>
          <p:nvPr/>
        </p:nvPicPr>
        <p:blipFill>
          <a:blip r:embed="rId4"/>
          <a:stretch>
            <a:fillRect/>
          </a:stretch>
        </p:blipFill>
        <p:spPr>
          <a:xfrm>
            <a:off x="8170347" y="1403787"/>
            <a:ext cx="228234" cy="228234"/>
          </a:xfrm>
          <a:prstGeom prst="rect">
            <a:avLst/>
          </a:prstGeom>
        </p:spPr>
      </p:pic>
      <p:sp>
        <p:nvSpPr>
          <p:cNvPr id="25" name="Text 19"/>
          <p:cNvSpPr txBox="1"/>
          <p:nvPr/>
        </p:nvSpPr>
        <p:spPr>
          <a:xfrm>
            <a:off x="6949440" y="1874520"/>
            <a:ext cx="1600200" cy="365760"/>
          </a:xfrm>
          <a:prstGeom prst="rect">
            <a:avLst/>
          </a:prstGeom>
          <a:noFill/>
          <a:ln/>
        </p:spPr>
        <p:txBody>
          <a:bodyPr wrap="square" lIns="0" tIns="0" rIns="0" bIns="0" rtlCol="0" anchor="t"/>
          <a:lstStyle/>
          <a:p>
            <a:pPr indent="0" marL="0">
              <a:buNone/>
            </a:pPr>
            <a:r>
              <a:rPr lang="en-US" sz="1500" b="1" dirty="0">
                <a:solidFill>
                  <a:schemeClr val="tx1"/>
                </a:solidFill>
              </a:rPr>
              <a:t>Clean up and test</a:t>
            </a:r>
            <a:endParaRPr lang="en-US" sz="1500" dirty="0"/>
          </a:p>
        </p:txBody>
      </p:sp>
      <p:sp>
        <p:nvSpPr>
          <p:cNvPr id="26" name="Text 20"/>
          <p:cNvSpPr txBox="1"/>
          <p:nvPr/>
        </p:nvSpPr>
        <p:spPr>
          <a:xfrm>
            <a:off x="6949440" y="2286000"/>
            <a:ext cx="1600200" cy="1188720"/>
          </a:xfrm>
          <a:prstGeom prst="rect">
            <a:avLst/>
          </a:prstGeom>
          <a:noFill/>
          <a:ln/>
        </p:spPr>
        <p:txBody>
          <a:bodyPr wrap="square" lIns="0" tIns="0" rIns="0" bIns="0" rtlCol="0" anchor="t"/>
          <a:lstStyle/>
          <a:p>
            <a:pPr indent="0" marL="0">
              <a:buNone/>
            </a:pPr>
            <a:r>
              <a:rPr lang="en-US" sz="1200" dirty="0">
                <a:solidFill>
                  <a:schemeClr val="tx2"/>
                </a:solidFill>
              </a:rPr>
              <a:t>Remove sample files; re-run all completion checks on the live site.</a:t>
            </a:r>
            <a:endParaRPr lang="en-US" sz="1200" dirty="0"/>
          </a:p>
        </p:txBody>
      </p:sp>
      <p:sp>
        <p:nvSpPr>
          <p:cNvPr id="27" name="Text 21"/>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400" i="1" dirty="0">
                <a:solidFill>
                  <a:schemeClr val="tx1"/>
                </a:solidFill>
              </a:rPr>
              <a:t>Goal by November 9: the live site shows only my real work.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Planned improvements and additional features</a:t>
            </a:r>
            <a:endParaRPr lang="en-US" sz="3000" dirty="0"/>
          </a:p>
        </p:txBody>
      </p:sp>
      <p:sp>
        <p:nvSpPr>
          <p:cNvPr id="3" name="Improvement card"/>
          <p:cNvSpPr/>
          <p:nvPr/>
        </p:nvSpPr>
        <p:spPr>
          <a:xfrm>
            <a:off x="457200" y="105156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21792" y="1216152"/>
            <a:ext cx="420624" cy="420624"/>
          </a:xfrm>
          <a:prstGeom prst="ellipse">
            <a:avLst/>
          </a:prstGeom>
          <a:solidFill>
            <a:schemeClr val="accent2"/>
          </a:solidFill>
          <a:ln/>
        </p:spPr>
      </p:sp>
      <p:pic>
        <p:nvPicPr>
          <p:cNvPr id="5" name="Icon" descr="preencoded.png">    </p:cNvPr>
          <p:cNvPicPr>
            <a:picLocks noChangeAspect="1"/>
          </p:cNvPicPr>
          <p:nvPr/>
        </p:nvPicPr>
        <p:blipFill>
          <a:blip r:embed="rId1"/>
          <a:stretch>
            <a:fillRect/>
          </a:stretch>
        </p:blipFill>
        <p:spPr>
          <a:xfrm>
            <a:off x="722742" y="1317102"/>
            <a:ext cx="218724" cy="218724"/>
          </a:xfrm>
          <a:prstGeom prst="rect">
            <a:avLst/>
          </a:prstGeom>
        </p:spPr>
      </p:pic>
      <p:sp>
        <p:nvSpPr>
          <p:cNvPr id="6" name="Text 3"/>
          <p:cNvSpPr txBox="1"/>
          <p:nvPr/>
        </p:nvSpPr>
        <p:spPr>
          <a:xfrm>
            <a:off x="1152144" y="121615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Link previews and SEO</a:t>
            </a:r>
            <a:endParaRPr lang="en-US" sz="1300" dirty="0"/>
          </a:p>
        </p:txBody>
      </p:sp>
      <p:sp>
        <p:nvSpPr>
          <p:cNvPr id="7" name="Text 4"/>
          <p:cNvSpPr txBox="1"/>
          <p:nvPr/>
        </p:nvSpPr>
        <p:spPr>
          <a:xfrm>
            <a:off x="621792" y="1709928"/>
            <a:ext cx="2331720" cy="438912"/>
          </a:xfrm>
          <a:prstGeom prst="rect">
            <a:avLst/>
          </a:prstGeom>
          <a:noFill/>
          <a:ln/>
        </p:spPr>
        <p:txBody>
          <a:bodyPr wrap="square" lIns="0" tIns="0" rIns="0" bIns="0" rtlCol="0" anchor="t"/>
          <a:lstStyle/>
          <a:p>
            <a:pPr indent="0" marL="0">
              <a:buNone/>
            </a:pPr>
            <a:r>
              <a:rPr lang="en-US" sz="1100" dirty="0">
                <a:solidFill>
                  <a:schemeClr val="tx2"/>
                </a:solidFill>
              </a:rPr>
              <a:t>Title, description and image when the link is shared.</a:t>
            </a:r>
            <a:endParaRPr lang="en-US" sz="1100" dirty="0"/>
          </a:p>
        </p:txBody>
      </p:sp>
      <p:sp>
        <p:nvSpPr>
          <p:cNvPr id="8" name="Improvement card"/>
          <p:cNvSpPr/>
          <p:nvPr/>
        </p:nvSpPr>
        <p:spPr>
          <a:xfrm>
            <a:off x="3246120" y="105156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3410712" y="1216152"/>
            <a:ext cx="420624" cy="420624"/>
          </a:xfrm>
          <a:prstGeom prst="ellipse">
            <a:avLst/>
          </a:prstGeom>
          <a:solidFill>
            <a:schemeClr val="accent2"/>
          </a:solidFill>
          <a:ln/>
        </p:spPr>
      </p:sp>
      <p:pic>
        <p:nvPicPr>
          <p:cNvPr id="10" name="Icon" descr="preencoded.png">    </p:cNvPr>
          <p:cNvPicPr>
            <a:picLocks noChangeAspect="1"/>
          </p:cNvPicPr>
          <p:nvPr/>
        </p:nvPicPr>
        <p:blipFill>
          <a:blip r:embed="rId2"/>
          <a:stretch>
            <a:fillRect/>
          </a:stretch>
        </p:blipFill>
        <p:spPr>
          <a:xfrm>
            <a:off x="3511662" y="1317102"/>
            <a:ext cx="218724" cy="218724"/>
          </a:xfrm>
          <a:prstGeom prst="rect">
            <a:avLst/>
          </a:prstGeom>
        </p:spPr>
      </p:pic>
      <p:sp>
        <p:nvSpPr>
          <p:cNvPr id="11" name="Text 7"/>
          <p:cNvSpPr txBox="1"/>
          <p:nvPr/>
        </p:nvSpPr>
        <p:spPr>
          <a:xfrm>
            <a:off x="3941064" y="121615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Faster loading</a:t>
            </a:r>
            <a:endParaRPr lang="en-US" sz="1300" dirty="0"/>
          </a:p>
        </p:txBody>
      </p:sp>
      <p:sp>
        <p:nvSpPr>
          <p:cNvPr id="12" name="Text 8"/>
          <p:cNvSpPr txBox="1"/>
          <p:nvPr/>
        </p:nvSpPr>
        <p:spPr>
          <a:xfrm>
            <a:off x="3410712" y="1709928"/>
            <a:ext cx="2331720" cy="438912"/>
          </a:xfrm>
          <a:prstGeom prst="rect">
            <a:avLst/>
          </a:prstGeom>
          <a:noFill/>
          <a:ln/>
        </p:spPr>
        <p:txBody>
          <a:bodyPr wrap="square" lIns="0" tIns="0" rIns="0" bIns="0" rtlCol="0" anchor="t"/>
          <a:lstStyle/>
          <a:p>
            <a:pPr indent="0" marL="0">
              <a:buNone/>
            </a:pPr>
            <a:r>
              <a:rPr lang="en-US" sz="1100" dirty="0">
                <a:solidFill>
                  <a:schemeClr val="tx2"/>
                </a:solidFill>
              </a:rPr>
              <a:t>Loading placeholders and optimised images.</a:t>
            </a:r>
            <a:endParaRPr lang="en-US" sz="1100" dirty="0"/>
          </a:p>
        </p:txBody>
      </p:sp>
      <p:sp>
        <p:nvSpPr>
          <p:cNvPr id="13" name="Improvement card"/>
          <p:cNvSpPr/>
          <p:nvPr/>
        </p:nvSpPr>
        <p:spPr>
          <a:xfrm>
            <a:off x="6035040" y="105156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199632" y="1216152"/>
            <a:ext cx="420624" cy="420624"/>
          </a:xfrm>
          <a:prstGeom prst="ellipse">
            <a:avLst/>
          </a:prstGeom>
          <a:solidFill>
            <a:schemeClr val="accent2"/>
          </a:solidFill>
          <a:ln/>
        </p:spPr>
      </p:sp>
      <p:pic>
        <p:nvPicPr>
          <p:cNvPr id="15" name="Icon" descr="preencoded.png">    </p:cNvPr>
          <p:cNvPicPr>
            <a:picLocks noChangeAspect="1"/>
          </p:cNvPicPr>
          <p:nvPr/>
        </p:nvPicPr>
        <p:blipFill>
          <a:blip r:embed="rId3"/>
          <a:stretch>
            <a:fillRect/>
          </a:stretch>
        </p:blipFill>
        <p:spPr>
          <a:xfrm>
            <a:off x="6300582" y="1317102"/>
            <a:ext cx="218724" cy="218724"/>
          </a:xfrm>
          <a:prstGeom prst="rect">
            <a:avLst/>
          </a:prstGeom>
        </p:spPr>
      </p:pic>
      <p:sp>
        <p:nvSpPr>
          <p:cNvPr id="16" name="Text 11"/>
          <p:cNvSpPr txBox="1"/>
          <p:nvPr/>
        </p:nvSpPr>
        <p:spPr>
          <a:xfrm>
            <a:off x="6729984" y="121615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Accessibility check</a:t>
            </a:r>
            <a:endParaRPr lang="en-US" sz="1300" dirty="0"/>
          </a:p>
        </p:txBody>
      </p:sp>
      <p:sp>
        <p:nvSpPr>
          <p:cNvPr id="17" name="Text 12"/>
          <p:cNvSpPr txBox="1"/>
          <p:nvPr/>
        </p:nvSpPr>
        <p:spPr>
          <a:xfrm>
            <a:off x="6199632" y="1709928"/>
            <a:ext cx="2331720" cy="438912"/>
          </a:xfrm>
          <a:prstGeom prst="rect">
            <a:avLst/>
          </a:prstGeom>
          <a:noFill/>
          <a:ln/>
        </p:spPr>
        <p:txBody>
          <a:bodyPr wrap="square" lIns="0" tIns="0" rIns="0" bIns="0" rtlCol="0" anchor="t"/>
          <a:lstStyle/>
          <a:p>
            <a:pPr indent="0" marL="0">
              <a:buNone/>
            </a:pPr>
            <a:r>
              <a:rPr lang="en-US" sz="1100" dirty="0">
                <a:solidFill>
                  <a:schemeClr val="tx2"/>
                </a:solidFill>
              </a:rPr>
              <a:t>Keyboard use, contrast and image descriptions.</a:t>
            </a:r>
            <a:endParaRPr lang="en-US" sz="1100" dirty="0"/>
          </a:p>
        </p:txBody>
      </p:sp>
      <p:sp>
        <p:nvSpPr>
          <p:cNvPr id="18" name="Improvement card"/>
          <p:cNvSpPr/>
          <p:nvPr/>
        </p:nvSpPr>
        <p:spPr>
          <a:xfrm>
            <a:off x="457200" y="233172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621792" y="2496312"/>
            <a:ext cx="420624" cy="420624"/>
          </a:xfrm>
          <a:prstGeom prst="ellipse">
            <a:avLst/>
          </a:prstGeom>
          <a:solidFill>
            <a:schemeClr val="accent2"/>
          </a:solidFill>
          <a:ln/>
        </p:spPr>
      </p:sp>
      <p:pic>
        <p:nvPicPr>
          <p:cNvPr id="20" name="Icon" descr="preencoded.png">    </p:cNvPr>
          <p:cNvPicPr>
            <a:picLocks noChangeAspect="1"/>
          </p:cNvPicPr>
          <p:nvPr/>
        </p:nvPicPr>
        <p:blipFill>
          <a:blip r:embed="rId4"/>
          <a:stretch>
            <a:fillRect/>
          </a:stretch>
        </p:blipFill>
        <p:spPr>
          <a:xfrm>
            <a:off x="722742" y="2597262"/>
            <a:ext cx="218724" cy="218724"/>
          </a:xfrm>
          <a:prstGeom prst="rect">
            <a:avLst/>
          </a:prstGeom>
        </p:spPr>
      </p:pic>
      <p:sp>
        <p:nvSpPr>
          <p:cNvPr id="21" name="Text 15"/>
          <p:cNvSpPr txBox="1"/>
          <p:nvPr/>
        </p:nvSpPr>
        <p:spPr>
          <a:xfrm>
            <a:off x="1152144" y="249631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3 languages: ID · EN · KO</a:t>
            </a:r>
            <a:endParaRPr lang="en-US" sz="1300" dirty="0"/>
          </a:p>
        </p:txBody>
      </p:sp>
      <p:sp>
        <p:nvSpPr>
          <p:cNvPr id="22" name="Text 16"/>
          <p:cNvSpPr txBox="1"/>
          <p:nvPr/>
        </p:nvSpPr>
        <p:spPr>
          <a:xfrm>
            <a:off x="621792" y="2990088"/>
            <a:ext cx="2331720" cy="438912"/>
          </a:xfrm>
          <a:prstGeom prst="rect">
            <a:avLst/>
          </a:prstGeom>
          <a:noFill/>
          <a:ln/>
        </p:spPr>
        <p:txBody>
          <a:bodyPr wrap="square" lIns="0" tIns="0" rIns="0" bIns="0" rtlCol="0" anchor="t"/>
          <a:lstStyle/>
          <a:p>
            <a:pPr indent="0" marL="0">
              <a:buNone/>
            </a:pPr>
            <a:r>
              <a:rPr lang="en-US" sz="1100" dirty="0">
                <a:solidFill>
                  <a:schemeClr val="tx2"/>
                </a:solidFill>
              </a:rPr>
              <a:t>Language switcher for Indonesian, English and Korean visitors.</a:t>
            </a:r>
            <a:endParaRPr lang="en-US" sz="1100" dirty="0"/>
          </a:p>
        </p:txBody>
      </p:sp>
      <p:sp>
        <p:nvSpPr>
          <p:cNvPr id="23" name="Improvement card"/>
          <p:cNvSpPr/>
          <p:nvPr/>
        </p:nvSpPr>
        <p:spPr>
          <a:xfrm>
            <a:off x="3246120" y="233172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3410712" y="2496312"/>
            <a:ext cx="420624" cy="420624"/>
          </a:xfrm>
          <a:prstGeom prst="ellipse">
            <a:avLst/>
          </a:prstGeom>
          <a:solidFill>
            <a:schemeClr val="accent2"/>
          </a:solidFill>
          <a:ln/>
        </p:spPr>
      </p:sp>
      <p:pic>
        <p:nvPicPr>
          <p:cNvPr id="25" name="Icon" descr="preencoded.png">    </p:cNvPr>
          <p:cNvPicPr>
            <a:picLocks noChangeAspect="1"/>
          </p:cNvPicPr>
          <p:nvPr/>
        </p:nvPicPr>
        <p:blipFill>
          <a:blip r:embed="rId5"/>
          <a:stretch>
            <a:fillRect/>
          </a:stretch>
        </p:blipFill>
        <p:spPr>
          <a:xfrm>
            <a:off x="3511662" y="2597262"/>
            <a:ext cx="218724" cy="218724"/>
          </a:xfrm>
          <a:prstGeom prst="rect">
            <a:avLst/>
          </a:prstGeom>
        </p:spPr>
      </p:pic>
      <p:sp>
        <p:nvSpPr>
          <p:cNvPr id="26" name="Text 19"/>
          <p:cNvSpPr txBox="1"/>
          <p:nvPr/>
        </p:nvSpPr>
        <p:spPr>
          <a:xfrm>
            <a:off x="3941064" y="249631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Multi-select categories</a:t>
            </a:r>
            <a:endParaRPr lang="en-US" sz="1300" dirty="0"/>
          </a:p>
        </p:txBody>
      </p:sp>
      <p:sp>
        <p:nvSpPr>
          <p:cNvPr id="27" name="Text 20"/>
          <p:cNvSpPr txBox="1"/>
          <p:nvPr/>
        </p:nvSpPr>
        <p:spPr>
          <a:xfrm>
            <a:off x="3410712" y="2990088"/>
            <a:ext cx="2331720" cy="438912"/>
          </a:xfrm>
          <a:prstGeom prst="rect">
            <a:avLst/>
          </a:prstGeom>
          <a:noFill/>
          <a:ln/>
        </p:spPr>
        <p:txBody>
          <a:bodyPr wrap="square" lIns="0" tIns="0" rIns="0" bIns="0" rtlCol="0" anchor="t"/>
          <a:lstStyle/>
          <a:p>
            <a:pPr indent="0" marL="0">
              <a:buNone/>
            </a:pPr>
            <a:r>
              <a:rPr lang="en-US" sz="1100" dirty="0">
                <a:solidFill>
                  <a:schemeClr val="tx2"/>
                </a:solidFill>
              </a:rPr>
              <a:t>Reconsider after user testing.</a:t>
            </a:r>
            <a:endParaRPr lang="en-US" sz="1100" dirty="0"/>
          </a:p>
        </p:txBody>
      </p:sp>
      <p:sp>
        <p:nvSpPr>
          <p:cNvPr id="28" name="Improvement card"/>
          <p:cNvSpPr/>
          <p:nvPr/>
        </p:nvSpPr>
        <p:spPr>
          <a:xfrm>
            <a:off x="6035040" y="2331720"/>
            <a:ext cx="2606040" cy="1143000"/>
          </a:xfrm>
          <a:prstGeom prst="roundRect">
            <a:avLst>
              <a:gd name="adj" fmla="val 6400"/>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9" name="Icon circle"/>
          <p:cNvSpPr/>
          <p:nvPr/>
        </p:nvSpPr>
        <p:spPr>
          <a:xfrm>
            <a:off x="6199632" y="2496312"/>
            <a:ext cx="420624" cy="420624"/>
          </a:xfrm>
          <a:prstGeom prst="ellipse">
            <a:avLst/>
          </a:prstGeom>
          <a:solidFill>
            <a:schemeClr val="accent2"/>
          </a:solidFill>
          <a:ln/>
        </p:spPr>
      </p:sp>
      <p:pic>
        <p:nvPicPr>
          <p:cNvPr id="30" name="Icon" descr="preencoded.png">    </p:cNvPr>
          <p:cNvPicPr>
            <a:picLocks noChangeAspect="1"/>
          </p:cNvPicPr>
          <p:nvPr/>
        </p:nvPicPr>
        <p:blipFill>
          <a:blip r:embed="rId6"/>
          <a:stretch>
            <a:fillRect/>
          </a:stretch>
        </p:blipFill>
        <p:spPr>
          <a:xfrm>
            <a:off x="6300582" y="2597262"/>
            <a:ext cx="218724" cy="218724"/>
          </a:xfrm>
          <a:prstGeom prst="rect">
            <a:avLst/>
          </a:prstGeom>
        </p:spPr>
      </p:pic>
      <p:sp>
        <p:nvSpPr>
          <p:cNvPr id="31" name="Text 23"/>
          <p:cNvSpPr txBox="1"/>
          <p:nvPr/>
        </p:nvSpPr>
        <p:spPr>
          <a:xfrm>
            <a:off x="6729984" y="2496312"/>
            <a:ext cx="1828800" cy="420624"/>
          </a:xfrm>
          <a:prstGeom prst="rect">
            <a:avLst/>
          </a:prstGeom>
          <a:noFill/>
          <a:ln/>
        </p:spPr>
        <p:txBody>
          <a:bodyPr wrap="square" lIns="0" tIns="0" rIns="0" bIns="0" rtlCol="0" anchor="ctr"/>
          <a:lstStyle/>
          <a:p>
            <a:pPr indent="0" marL="0">
              <a:buNone/>
            </a:pPr>
            <a:r>
              <a:rPr lang="en-US" sz="1300" b="1" dirty="0">
                <a:solidFill>
                  <a:schemeClr val="tx1"/>
                </a:solidFill>
              </a:rPr>
              <a:t>Better admin tools</a:t>
            </a:r>
            <a:endParaRPr lang="en-US" sz="1300" dirty="0"/>
          </a:p>
        </p:txBody>
      </p:sp>
      <p:sp>
        <p:nvSpPr>
          <p:cNvPr id="32" name="Text 24"/>
          <p:cNvSpPr txBox="1"/>
          <p:nvPr/>
        </p:nvSpPr>
        <p:spPr>
          <a:xfrm>
            <a:off x="6199632" y="2990088"/>
            <a:ext cx="2331720" cy="438912"/>
          </a:xfrm>
          <a:prstGeom prst="rect">
            <a:avLst/>
          </a:prstGeom>
          <a:noFill/>
          <a:ln/>
        </p:spPr>
        <p:txBody>
          <a:bodyPr wrap="square" lIns="0" tIns="0" rIns="0" bIns="0" rtlCol="0" anchor="t"/>
          <a:lstStyle/>
          <a:p>
            <a:pPr indent="0" marL="0">
              <a:buNone/>
            </a:pPr>
            <a:r>
              <a:rPr lang="en-US" sz="1100" dirty="0">
                <a:solidFill>
                  <a:schemeClr val="tx2"/>
                </a:solidFill>
              </a:rPr>
              <a:t>Image previews and project ordering.</a:t>
            </a:r>
            <a:endParaRPr lang="en-US" sz="1100" dirty="0"/>
          </a:p>
        </p:txBody>
      </p:sp>
      <p:sp>
        <p:nvSpPr>
          <p:cNvPr id="33" name="Out of scope"/>
          <p:cNvSpPr/>
          <p:nvPr/>
        </p:nvSpPr>
        <p:spPr>
          <a:xfrm>
            <a:off x="457200" y="3730752"/>
            <a:ext cx="8229600" cy="749808"/>
          </a:xfrm>
          <a:prstGeom prst="roundRect">
            <a:avLst>
              <a:gd name="adj" fmla="val 9756"/>
            </a:avLst>
          </a:prstGeom>
          <a:solidFill>
            <a:schemeClr val="accent2"/>
          </a:solidFill>
          <a:ln w="9525">
            <a:solidFill>
              <a:schemeClr val="accent2"/>
            </a:solidFill>
            <a:prstDash val="solid"/>
          </a:ln>
        </p:spPr>
      </p:sp>
      <p:pic>
        <p:nvPicPr>
          <p:cNvPr id="34" name="Out of scope icon" descr="preencoded.png">    </p:cNvPr>
          <p:cNvPicPr>
            <a:picLocks noChangeAspect="1"/>
          </p:cNvPicPr>
          <p:nvPr/>
        </p:nvPicPr>
        <p:blipFill>
          <a:blip r:embed="rId7"/>
          <a:stretch>
            <a:fillRect/>
          </a:stretch>
        </p:blipFill>
        <p:spPr>
          <a:xfrm>
            <a:off x="640080" y="3922776"/>
            <a:ext cx="347472" cy="347472"/>
          </a:xfrm>
          <a:prstGeom prst="rect">
            <a:avLst/>
          </a:prstGeom>
        </p:spPr>
      </p:pic>
      <p:sp>
        <p:nvSpPr>
          <p:cNvPr id="35" name="Text 26"/>
          <p:cNvSpPr txBox="1"/>
          <p:nvPr/>
        </p:nvSpPr>
        <p:spPr>
          <a:xfrm>
            <a:off x="1143000" y="3730752"/>
            <a:ext cx="7406640" cy="749808"/>
          </a:xfrm>
          <a:prstGeom prst="rect">
            <a:avLst/>
          </a:prstGeom>
          <a:noFill/>
          <a:ln/>
        </p:spPr>
        <p:txBody>
          <a:bodyPr wrap="square" lIns="0" tIns="0" rIns="0" bIns="0" rtlCol="0" anchor="ctr"/>
          <a:lstStyle/>
          <a:p>
            <a:pPr indent="0" marL="0">
              <a:buNone/>
            </a:pPr>
            <a:r>
              <a:rPr lang="en-US" sz="1200" b="1" dirty="0">
                <a:solidFill>
                  <a:schemeClr val="tx1"/>
                </a:solidFill>
              </a:rPr>
              <a:t>Out of scope by design: </a:t>
            </a:r>
            <a:pPr indent="0" marL="0">
              <a:buNone/>
            </a:pPr>
            <a:r>
              <a:rPr lang="en-US" sz="1200" dirty="0">
                <a:solidFill>
                  <a:schemeClr val="tx2"/>
                </a:solidFill>
              </a:rPr>
              <a:t>AI recommendations, visitor accounts, payment, chat, visitor tracking/analytics, file uploads.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Future service and deployment plans</a:t>
            </a:r>
            <a:endParaRPr lang="en-US" sz="3000" dirty="0"/>
          </a:p>
        </p:txBody>
      </p:sp>
      <p:sp>
        <p:nvSpPr>
          <p:cNvPr id="3" name="Icon circle"/>
          <p:cNvSpPr/>
          <p:nvPr/>
        </p:nvSpPr>
        <p:spPr>
          <a:xfrm>
            <a:off x="457200" y="1078992"/>
            <a:ext cx="457200" cy="457200"/>
          </a:xfrm>
          <a:prstGeom prst="ellipse">
            <a:avLst/>
          </a:prstGeom>
          <a:solidFill>
            <a:schemeClr val="accent2"/>
          </a:solidFill>
          <a:ln/>
        </p:spPr>
      </p:sp>
      <p:pic>
        <p:nvPicPr>
          <p:cNvPr id="4" name="Icon" descr="preencoded.png">    </p:cNvPr>
          <p:cNvPicPr>
            <a:picLocks noChangeAspect="1"/>
          </p:cNvPicPr>
          <p:nvPr/>
        </p:nvPicPr>
        <p:blipFill>
          <a:blip r:embed="rId1"/>
          <a:stretch>
            <a:fillRect/>
          </a:stretch>
        </p:blipFill>
        <p:spPr>
          <a:xfrm>
            <a:off x="566928" y="1188720"/>
            <a:ext cx="237744" cy="237744"/>
          </a:xfrm>
          <a:prstGeom prst="rect">
            <a:avLst/>
          </a:prstGeom>
        </p:spPr>
      </p:pic>
      <p:sp>
        <p:nvSpPr>
          <p:cNvPr id="5" name="Text 2"/>
          <p:cNvSpPr txBox="1"/>
          <p:nvPr/>
        </p:nvSpPr>
        <p:spPr>
          <a:xfrm>
            <a:off x="1051560" y="1078992"/>
            <a:ext cx="4114800" cy="457200"/>
          </a:xfrm>
          <a:prstGeom prst="rect">
            <a:avLst/>
          </a:prstGeom>
          <a:noFill/>
          <a:ln/>
        </p:spPr>
        <p:txBody>
          <a:bodyPr wrap="square" lIns="0" tIns="0" rIns="0" bIns="0" rtlCol="0" anchor="ctr"/>
          <a:lstStyle/>
          <a:p>
            <a:pPr indent="0" marL="0">
              <a:buNone/>
            </a:pPr>
            <a:r>
              <a:rPr lang="en-US" sz="1300" b="1" dirty="0">
                <a:solidFill>
                  <a:schemeClr val="tx1"/>
                </a:solidFill>
              </a:rPr>
              <a:t>Hosting  </a:t>
            </a:r>
            <a:pPr indent="0" marL="0">
              <a:buNone/>
            </a:pPr>
            <a:r>
              <a:rPr lang="en-US" sz="1300" dirty="0">
                <a:solidFill>
                  <a:schemeClr val="tx2"/>
                </a:solidFill>
              </a:rPr>
              <a:t>Vercel, with automatic deploys from GitHub main</a:t>
            </a:r>
            <a:endParaRPr lang="en-US" sz="1300" dirty="0"/>
          </a:p>
        </p:txBody>
      </p:sp>
      <p:sp>
        <p:nvSpPr>
          <p:cNvPr id="6" name="Icon circle"/>
          <p:cNvSpPr/>
          <p:nvPr/>
        </p:nvSpPr>
        <p:spPr>
          <a:xfrm>
            <a:off x="457200" y="1764792"/>
            <a:ext cx="457200" cy="457200"/>
          </a:xfrm>
          <a:prstGeom prst="ellipse">
            <a:avLst/>
          </a:prstGeom>
          <a:solidFill>
            <a:schemeClr val="accent2"/>
          </a:solidFill>
          <a:ln/>
        </p:spPr>
      </p:sp>
      <p:pic>
        <p:nvPicPr>
          <p:cNvPr id="7" name="Icon" descr="preencoded.png">    </p:cNvPr>
          <p:cNvPicPr>
            <a:picLocks noChangeAspect="1"/>
          </p:cNvPicPr>
          <p:nvPr/>
        </p:nvPicPr>
        <p:blipFill>
          <a:blip r:embed="rId2"/>
          <a:stretch>
            <a:fillRect/>
          </a:stretch>
        </p:blipFill>
        <p:spPr>
          <a:xfrm>
            <a:off x="566928" y="1874520"/>
            <a:ext cx="237744" cy="237744"/>
          </a:xfrm>
          <a:prstGeom prst="rect">
            <a:avLst/>
          </a:prstGeom>
        </p:spPr>
      </p:pic>
      <p:sp>
        <p:nvSpPr>
          <p:cNvPr id="8" name="Text 4"/>
          <p:cNvSpPr txBox="1"/>
          <p:nvPr/>
        </p:nvSpPr>
        <p:spPr>
          <a:xfrm>
            <a:off x="1051560" y="1764792"/>
            <a:ext cx="4114800" cy="457200"/>
          </a:xfrm>
          <a:prstGeom prst="rect">
            <a:avLst/>
          </a:prstGeom>
          <a:noFill/>
          <a:ln/>
        </p:spPr>
        <p:txBody>
          <a:bodyPr wrap="square" lIns="0" tIns="0" rIns="0" bIns="0" rtlCol="0" anchor="ctr"/>
          <a:lstStyle/>
          <a:p>
            <a:pPr indent="0" marL="0">
              <a:buNone/>
            </a:pPr>
            <a:r>
              <a:rPr lang="en-US" sz="1300" b="1" dirty="0">
                <a:solidFill>
                  <a:schemeClr val="tx1"/>
                </a:solidFill>
              </a:rPr>
              <a:t>Data  </a:t>
            </a:r>
            <a:pPr indent="0" marL="0">
              <a:buNone/>
            </a:pPr>
            <a:r>
              <a:rPr lang="en-US" sz="1300" dirty="0">
                <a:solidFill>
                  <a:schemeClr val="tx2"/>
                </a:solidFill>
              </a:rPr>
              <a:t>Supabase free tier (Singapore region) for projects and messages</a:t>
            </a:r>
            <a:endParaRPr lang="en-US" sz="1300" dirty="0"/>
          </a:p>
        </p:txBody>
      </p:sp>
      <p:sp>
        <p:nvSpPr>
          <p:cNvPr id="9" name="Icon circle"/>
          <p:cNvSpPr/>
          <p:nvPr/>
        </p:nvSpPr>
        <p:spPr>
          <a:xfrm>
            <a:off x="457200" y="2450592"/>
            <a:ext cx="457200" cy="457200"/>
          </a:xfrm>
          <a:prstGeom prst="ellipse">
            <a:avLst/>
          </a:prstGeom>
          <a:solidFill>
            <a:schemeClr val="accent2"/>
          </a:solidFill>
          <a:ln/>
        </p:spPr>
      </p:sp>
      <p:pic>
        <p:nvPicPr>
          <p:cNvPr id="10" name="Icon" descr="preencoded.png">    </p:cNvPr>
          <p:cNvPicPr>
            <a:picLocks noChangeAspect="1"/>
          </p:cNvPicPr>
          <p:nvPr/>
        </p:nvPicPr>
        <p:blipFill>
          <a:blip r:embed="rId3"/>
          <a:stretch>
            <a:fillRect/>
          </a:stretch>
        </p:blipFill>
        <p:spPr>
          <a:xfrm>
            <a:off x="566928" y="2560320"/>
            <a:ext cx="237744" cy="237744"/>
          </a:xfrm>
          <a:prstGeom prst="rect">
            <a:avLst/>
          </a:prstGeom>
        </p:spPr>
      </p:pic>
      <p:sp>
        <p:nvSpPr>
          <p:cNvPr id="11" name="Text 6"/>
          <p:cNvSpPr txBox="1"/>
          <p:nvPr/>
        </p:nvSpPr>
        <p:spPr>
          <a:xfrm>
            <a:off x="1051560" y="2450592"/>
            <a:ext cx="4114800" cy="457200"/>
          </a:xfrm>
          <a:prstGeom prst="rect">
            <a:avLst/>
          </a:prstGeom>
          <a:noFill/>
          <a:ln/>
        </p:spPr>
        <p:txBody>
          <a:bodyPr wrap="square" lIns="0" tIns="0" rIns="0" bIns="0" rtlCol="0" anchor="ctr"/>
          <a:lstStyle/>
          <a:p>
            <a:pPr indent="0" marL="0">
              <a:buNone/>
            </a:pPr>
            <a:r>
              <a:rPr lang="en-US" sz="1300" b="1" dirty="0">
                <a:solidFill>
                  <a:schemeClr val="tx1"/>
                </a:solidFill>
              </a:rPr>
              <a:t>Domain  </a:t>
            </a:r>
            <a:pPr indent="0" marL="0">
              <a:buNone/>
            </a:pPr>
            <a:r>
              <a:rPr lang="en-US" sz="1300" dirty="0">
                <a:solidFill>
                  <a:schemeClr val="tx2"/>
                </a:solidFill>
              </a:rPr>
              <a:t>Optional custom domain for the final version</a:t>
            </a:r>
            <a:endParaRPr lang="en-US" sz="1300" dirty="0"/>
          </a:p>
        </p:txBody>
      </p:sp>
      <p:sp>
        <p:nvSpPr>
          <p:cNvPr id="12" name="Icon circle"/>
          <p:cNvSpPr/>
          <p:nvPr/>
        </p:nvSpPr>
        <p:spPr>
          <a:xfrm>
            <a:off x="457200" y="3136392"/>
            <a:ext cx="457200" cy="457200"/>
          </a:xfrm>
          <a:prstGeom prst="ellipse">
            <a:avLst/>
          </a:prstGeom>
          <a:solidFill>
            <a:schemeClr val="accent2"/>
          </a:solidFill>
          <a:ln/>
        </p:spPr>
      </p:sp>
      <p:pic>
        <p:nvPicPr>
          <p:cNvPr id="13" name="Icon" descr="preencoded.png">    </p:cNvPr>
          <p:cNvPicPr>
            <a:picLocks noChangeAspect="1"/>
          </p:cNvPicPr>
          <p:nvPr/>
        </p:nvPicPr>
        <p:blipFill>
          <a:blip r:embed="rId4"/>
          <a:stretch>
            <a:fillRect/>
          </a:stretch>
        </p:blipFill>
        <p:spPr>
          <a:xfrm>
            <a:off x="566928" y="3246120"/>
            <a:ext cx="237744" cy="237744"/>
          </a:xfrm>
          <a:prstGeom prst="rect">
            <a:avLst/>
          </a:prstGeom>
        </p:spPr>
      </p:pic>
      <p:sp>
        <p:nvSpPr>
          <p:cNvPr id="14" name="Text 8"/>
          <p:cNvSpPr txBox="1"/>
          <p:nvPr/>
        </p:nvSpPr>
        <p:spPr>
          <a:xfrm>
            <a:off x="1051560" y="3136392"/>
            <a:ext cx="4114800" cy="457200"/>
          </a:xfrm>
          <a:prstGeom prst="rect">
            <a:avLst/>
          </a:prstGeom>
          <a:noFill/>
          <a:ln/>
        </p:spPr>
        <p:txBody>
          <a:bodyPr wrap="square" lIns="0" tIns="0" rIns="0" bIns="0" rtlCol="0" anchor="ctr"/>
          <a:lstStyle/>
          <a:p>
            <a:pPr indent="0" marL="0">
              <a:buNone/>
            </a:pPr>
            <a:r>
              <a:rPr lang="en-US" sz="1300" b="1" dirty="0">
                <a:solidFill>
                  <a:schemeClr val="tx1"/>
                </a:solidFill>
              </a:rPr>
              <a:t>Security  </a:t>
            </a:r>
            <a:pPr indent="0" marL="0">
              <a:buNone/>
            </a:pPr>
            <a:r>
              <a:rPr lang="en-US" sz="1300" dirty="0">
                <a:solidFill>
                  <a:schemeClr val="tx2"/>
                </a:solidFill>
              </a:rPr>
              <a:t>Single admin, sign-up disabled, database rules (RLS)</a:t>
            </a:r>
            <a:endParaRPr lang="en-US" sz="1300" dirty="0"/>
          </a:p>
        </p:txBody>
      </p:sp>
      <p:sp>
        <p:nvSpPr>
          <p:cNvPr id="15" name="Icon circle"/>
          <p:cNvSpPr/>
          <p:nvPr/>
        </p:nvSpPr>
        <p:spPr>
          <a:xfrm>
            <a:off x="457200" y="3822192"/>
            <a:ext cx="457200" cy="457200"/>
          </a:xfrm>
          <a:prstGeom prst="ellipse">
            <a:avLst/>
          </a:prstGeom>
          <a:solidFill>
            <a:schemeClr val="accent2"/>
          </a:solidFill>
          <a:ln/>
        </p:spPr>
      </p:sp>
      <p:pic>
        <p:nvPicPr>
          <p:cNvPr id="16" name="Icon" descr="preencoded.png">    </p:cNvPr>
          <p:cNvPicPr>
            <a:picLocks noChangeAspect="1"/>
          </p:cNvPicPr>
          <p:nvPr/>
        </p:nvPicPr>
        <p:blipFill>
          <a:blip r:embed="rId5"/>
          <a:stretch>
            <a:fillRect/>
          </a:stretch>
        </p:blipFill>
        <p:spPr>
          <a:xfrm>
            <a:off x="566928" y="3931920"/>
            <a:ext cx="237744" cy="237744"/>
          </a:xfrm>
          <a:prstGeom prst="rect">
            <a:avLst/>
          </a:prstGeom>
        </p:spPr>
      </p:pic>
      <p:sp>
        <p:nvSpPr>
          <p:cNvPr id="17" name="Text 10"/>
          <p:cNvSpPr txBox="1"/>
          <p:nvPr/>
        </p:nvSpPr>
        <p:spPr>
          <a:xfrm>
            <a:off x="1051560" y="3822192"/>
            <a:ext cx="4114800" cy="457200"/>
          </a:xfrm>
          <a:prstGeom prst="rect">
            <a:avLst/>
          </a:prstGeom>
          <a:noFill/>
          <a:ln/>
        </p:spPr>
        <p:txBody>
          <a:bodyPr wrap="square" lIns="0" tIns="0" rIns="0" bIns="0" rtlCol="0" anchor="ctr"/>
          <a:lstStyle/>
          <a:p>
            <a:pPr indent="0" marL="0">
              <a:buNone/>
            </a:pPr>
            <a:r>
              <a:rPr lang="en-US" sz="1300" b="1" dirty="0">
                <a:solidFill>
                  <a:schemeClr val="tx1"/>
                </a:solidFill>
              </a:rPr>
              <a:t>Maintenance  </a:t>
            </a:r>
            <a:pPr indent="0" marL="0">
              <a:buNone/>
            </a:pPr>
            <a:r>
              <a:rPr lang="en-US" sz="1300" dirty="0">
                <a:solidFill>
                  <a:schemeClr val="tx2"/>
                </a:solidFill>
              </a:rPr>
              <a:t>Content updated in the admin dashboard; no code needed</a:t>
            </a:r>
            <a:endParaRPr lang="en-US" sz="1300" dirty="0"/>
          </a:p>
        </p:txBody>
      </p:sp>
      <p:sp>
        <p:nvSpPr>
          <p:cNvPr id="18" name="After course panel"/>
          <p:cNvSpPr/>
          <p:nvPr/>
        </p:nvSpPr>
        <p:spPr>
          <a:xfrm>
            <a:off x="5486400" y="1078992"/>
            <a:ext cx="3200400" cy="3246120"/>
          </a:xfrm>
          <a:prstGeom prst="roundRect">
            <a:avLst>
              <a:gd name="adj" fmla="val 2286"/>
            </a:avLst>
          </a:prstGeom>
          <a:solidFill>
            <a:schemeClr val="tx1"/>
          </a:solidFill>
          <a:ln/>
        </p:spPr>
      </p:sp>
      <p:sp>
        <p:nvSpPr>
          <p:cNvPr id="19" name="Icon circle"/>
          <p:cNvSpPr/>
          <p:nvPr/>
        </p:nvSpPr>
        <p:spPr>
          <a:xfrm>
            <a:off x="5715000" y="1298448"/>
            <a:ext cx="502920" cy="502920"/>
          </a:xfrm>
          <a:prstGeom prst="ellipse">
            <a:avLst/>
          </a:prstGeom>
          <a:solidFill>
            <a:schemeClr val="accent1"/>
          </a:solidFill>
          <a:ln/>
        </p:spPr>
      </p:sp>
      <p:pic>
        <p:nvPicPr>
          <p:cNvPr id="20" name="Icon" descr="preencoded.png">    </p:cNvPr>
          <p:cNvPicPr>
            <a:picLocks noChangeAspect="1"/>
          </p:cNvPicPr>
          <p:nvPr/>
        </p:nvPicPr>
        <p:blipFill>
          <a:blip r:embed="rId6"/>
          <a:stretch>
            <a:fillRect/>
          </a:stretch>
        </p:blipFill>
        <p:spPr>
          <a:xfrm>
            <a:off x="5835701" y="1419149"/>
            <a:ext cx="261518" cy="261518"/>
          </a:xfrm>
          <a:prstGeom prst="rect">
            <a:avLst/>
          </a:prstGeom>
        </p:spPr>
      </p:pic>
      <p:sp>
        <p:nvSpPr>
          <p:cNvPr id="21" name="Text 13"/>
          <p:cNvSpPr txBox="1"/>
          <p:nvPr/>
        </p:nvSpPr>
        <p:spPr>
          <a:xfrm>
            <a:off x="5715000" y="1938528"/>
            <a:ext cx="2743200" cy="365760"/>
          </a:xfrm>
          <a:prstGeom prst="rect">
            <a:avLst/>
          </a:prstGeom>
          <a:noFill/>
          <a:ln/>
        </p:spPr>
        <p:txBody>
          <a:bodyPr wrap="square" lIns="0" tIns="0" rIns="0" bIns="0" rtlCol="0" anchor="ctr"/>
          <a:lstStyle/>
          <a:p>
            <a:pPr indent="0" marL="0">
              <a:buNone/>
            </a:pPr>
            <a:r>
              <a:rPr lang="en-US" sz="1700" b="1" dirty="0">
                <a:solidFill>
                  <a:schemeClr val="bg1"/>
                </a:solidFill>
              </a:rPr>
              <a:t>After the course</a:t>
            </a:r>
            <a:endParaRPr lang="en-US" sz="1700" dirty="0"/>
          </a:p>
        </p:txBody>
      </p:sp>
      <p:sp>
        <p:nvSpPr>
          <p:cNvPr id="22" name="Text 14"/>
          <p:cNvSpPr txBox="1"/>
          <p:nvPr/>
        </p:nvSpPr>
        <p:spPr>
          <a:xfrm>
            <a:off x="5715000" y="2359152"/>
            <a:ext cx="2743200" cy="1783080"/>
          </a:xfrm>
          <a:prstGeom prst="rect">
            <a:avLst/>
          </a:prstGeom>
          <a:noFill/>
          <a:ln/>
        </p:spPr>
        <p:txBody>
          <a:bodyPr wrap="square" lIns="0" tIns="0" rIns="0" bIns="0" rtlCol="0" anchor="t"/>
          <a:lstStyle/>
          <a:p>
            <a:pPr indent="0" marL="0">
              <a:buNone/>
            </a:pPr>
            <a:r>
              <a:rPr lang="en-US" sz="1300" dirty="0">
                <a:solidFill>
                  <a:schemeClr val="accent6"/>
                </a:solidFill>
              </a:rPr>
              <a:t>PortofoliYou becomes my real portfolio for internship and job applications: one link on my CV, LinkedIn and Instagram that shows each visitor the work they came for.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572000" cy="8229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2057400"/>
            <a:ext cx="4572000" cy="1097280"/>
          </a:xfrm>
          <a:prstGeom prst="rect">
            <a:avLst/>
          </a:prstGeom>
          <a:noFill/>
          <a:ln/>
        </p:spPr>
        <p:txBody>
          <a:bodyPr wrap="square" lIns="0" tIns="0" rIns="0" bIns="0" rtlCol="0" anchor="t"/>
          <a:lstStyle/>
          <a:p>
            <a:pPr algn="l" indent="0" marL="0">
              <a:buNone/>
            </a:pPr>
            <a:r>
              <a:rPr lang="en-US" sz="1800" dirty="0">
                <a:solidFill>
                  <a:schemeClr val="accent6"/>
                </a:solidFill>
              </a:rPr>
              <a:t>Questions and feedback are welcome</a:t>
            </a:r>
            <a:endParaRPr lang="en-US" sz="1800" dirty="0"/>
          </a:p>
          <a:p>
            <a:pPr algn="l" indent="0" marL="0">
              <a:buNone/>
            </a:pPr>
            <a:r>
              <a:rPr lang="en-US" sz="15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Live demo: portofoli-you.vercel.app</a:t>
            </a:r>
            <a:endParaRPr lang="en-US" sz="1800" dirty="0"/>
          </a:p>
        </p:txBody>
      </p:sp>
      <p:pic>
        <p:nvPicPr>
          <p:cNvPr id="4" name="Detail screenshot" descr="Project detail page for recruiters">    </p:cNvPr>
          <p:cNvPicPr>
            <a:picLocks noChangeAspect="1"/>
          </p:cNvPicPr>
          <p:nvPr/>
        </p:nvPicPr>
        <p:blipFill>
          <a:blip r:embed="rId2"/>
          <a:stretch>
            <a:fillRect/>
          </a:stretch>
        </p:blipFill>
        <p:spPr>
          <a:xfrm>
            <a:off x="5349240" y="1188720"/>
            <a:ext cx="3337560" cy="2085975"/>
          </a:xfrm>
          <a:prstGeom prst="rect">
            <a:avLst/>
          </a:prstGeom>
        </p:spPr>
      </p:pic>
    </p:spTree>
  </p:cSld>
  <p:clrMapOvr>
    <a:masterClrMapping/>
  </p:clrMapOvr>
</p:sld>
</file>

<file path=ppt/theme/theme1.xml><?xml version="1.0" encoding="utf-8"?>
<a:theme xmlns:a="http://schemas.openxmlformats.org/drawingml/2006/main" name="PortofoliYou Paper">
  <a:themeElements>
    <a:clrScheme name="PortofoliYou Paper">
      <a:dk1>
        <a:srgbClr val="1C1917"/>
      </a:dk1>
      <a:lt1>
        <a:srgbClr val="FFFFFF"/>
      </a:lt1>
      <a:dk2>
        <a:srgbClr val="57534E"/>
      </a:dk2>
      <a:lt2>
        <a:srgbClr val="F7F4EF"/>
      </a:lt2>
      <a:accent1>
        <a:srgbClr val="B4633B"/>
      </a:accent1>
      <a:accent2>
        <a:srgbClr val="ECE5D8"/>
      </a:accent2>
      <a:accent3>
        <a:srgbClr val="2F6B4F"/>
      </a:accent3>
      <a:accent4>
        <a:srgbClr val="A86B12"/>
      </a:accent4>
      <a:accent5>
        <a:srgbClr val="78716C"/>
      </a:accent5>
      <a:accent6>
        <a:srgbClr val="D6D3D1"/>
      </a:accent6>
      <a:hlink>
        <a:srgbClr val="B4633B"/>
      </a:hlink>
      <a:folHlink>
        <a:srgbClr val="78716C"/>
      </a:folHlink>
    </a:clrScheme>
    <a:fontScheme name="PortofoliYou Pa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PortofoliYou — Midterm Progress Report</dc:title>
  <dc:subject>Midterm progress report</dc:subject>
  <dc:creator>Nethania</dc:creator>
  <cp:lastModifiedBy>Nethania</cp:lastModifiedBy>
  <cp:revision>1</cp:revision>
  <dcterms:created xsi:type="dcterms:W3CDTF">2026-10-19T09:49:20Z</dcterms:created>
  <dcterms:modified xsi:type="dcterms:W3CDTF">2026-10-19T09:49:20Z</dcterms:modified>
</cp:coreProperties>
</file>